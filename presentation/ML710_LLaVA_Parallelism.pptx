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600" b="1">
                <a:solidFill>
                  <a:srgbClr val="101010"/>
                </a:solidFill>
              </a:rPr>
              <a:t>Parallelizing LLaVA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023360"/>
            <a:ext cx="1124712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>
                <a:solidFill>
                  <a:srgbClr val="555555"/>
                </a:solidFill>
              </a:rPr>
              <a:t>ML710 course project · MBZUAI</a:t>
            </a:r>
          </a:p>
          <a:p>
            <a:pPr algn="ctr"/>
            <a:r>
              <a:rPr sz="1800">
                <a:solidFill>
                  <a:srgbClr val="555555"/>
                </a:solidFill>
              </a:rPr>
              <a:t>Rassul Magauin · Omar Ahmed · Youssef Ghallab
Spring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01010"/>
                </a:solidFill>
              </a:rPr>
              <a:t>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101010"/>
                </a:solidFill>
              </a:rPr>
              <a:t>•  MBZUAI HPC, ws-ia partition: 2 nodes × 1 RTX 5000 Ada (32 GB), Ethernet ~1 Gbps.</a:t>
            </a:r>
          </a:p>
          <a:p>
            <a:pPr lvl="1">
              <a:spcAft>
                <a:spcPts val="400"/>
              </a:spcAft>
            </a:pPr>
            <a:r>
              <a:rPr sz="1900">
                <a:solidFill>
                  <a:srgbClr val="555555"/>
                </a:solidFill>
              </a:rPr>
              <a:t>    –  No NVLink, no InfiniBand. Cross-node comm goes over a slow link.</a:t>
            </a:r>
          </a:p>
          <a:p>
            <a:pPr lvl="1">
              <a:spcAft>
                <a:spcPts val="400"/>
              </a:spcAft>
            </a:pPr>
            <a:r>
              <a:rPr sz="1900">
                <a:solidFill>
                  <a:srgbClr val="555555"/>
                </a:solidFill>
              </a:rPr>
              <a:t>    –  The gpu partition has a 1-GPU-per-user QOS, so multi-GPU = two salloc sessions + torchrun.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101010"/>
                </a:solidFill>
              </a:rPr>
              <a:t>•  Software: PyTorch 2.1.2, DeepSpeed 0.12.6, Transformers 4.37.2, peft 0.6.0.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101010"/>
                </a:solidFill>
              </a:rPr>
              <a:t>•  Team of three, each owning at least one non-trivial parallelism strategy:</a:t>
            </a:r>
          </a:p>
          <a:p>
            <a:pPr lvl="1">
              <a:spcAft>
                <a:spcPts val="400"/>
              </a:spcAft>
            </a:pPr>
            <a:r>
              <a:rPr sz="1900">
                <a:solidFill>
                  <a:srgbClr val="555555"/>
                </a:solidFill>
              </a:rPr>
              <a:t>    –  Pipeline parallelism — Youssef Ghallab</a:t>
            </a:r>
          </a:p>
          <a:p>
            <a:pPr lvl="1">
              <a:spcAft>
                <a:spcPts val="400"/>
              </a:spcAft>
            </a:pPr>
            <a:r>
              <a:rPr sz="1900">
                <a:solidFill>
                  <a:srgbClr val="555555"/>
                </a:solidFill>
              </a:rPr>
              <a:t>    –  DeepSpeed ZeRO-2 — Omar Ahmed</a:t>
            </a:r>
          </a:p>
          <a:p>
            <a:pPr lvl="1">
              <a:spcAft>
                <a:spcPts val="400"/>
              </a:spcAft>
            </a:pPr>
            <a:r>
              <a:rPr sz="1900">
                <a:solidFill>
                  <a:srgbClr val="555555"/>
                </a:solidFill>
              </a:rPr>
              <a:t>    –  DeepSpeed ZeRO-3 and PyTorch FSDP — Rassul Magauin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01010"/>
                </a:solidFill>
              </a:rPr>
              <a:t>The model: LLaVA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101010"/>
                </a:solidFill>
              </a:rPr>
              <a:t>•  Liu et al., "Visual Instruction Tuning" (NeurIPS 2023). Multimodal: image + text → text.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101010"/>
                </a:solidFill>
              </a:rPr>
              <a:t>•  About 7B parameters total, in three pieces:</a:t>
            </a:r>
          </a:p>
          <a:p>
            <a:pPr lvl="1">
              <a:spcAft>
                <a:spcPts val="400"/>
              </a:spcAft>
            </a:pPr>
            <a:r>
              <a:rPr sz="1900">
                <a:solidFill>
                  <a:srgbClr val="555555"/>
                </a:solidFill>
              </a:rPr>
              <a:t>    –  CLIP ViT-L/14-336 vision encoder — frozen.</a:t>
            </a:r>
          </a:p>
          <a:p>
            <a:pPr lvl="1">
              <a:spcAft>
                <a:spcPts val="400"/>
              </a:spcAft>
            </a:pPr>
            <a:r>
              <a:rPr sz="1900">
                <a:solidFill>
                  <a:srgbClr val="555555"/>
                </a:solidFill>
              </a:rPr>
              <a:t>    –  2-layer MLP projection — small, trainable.</a:t>
            </a:r>
          </a:p>
          <a:p>
            <a:pPr lvl="1">
              <a:spcAft>
                <a:spcPts val="400"/>
              </a:spcAft>
            </a:pPr>
            <a:r>
              <a:rPr sz="1900">
                <a:solidFill>
                  <a:srgbClr val="555555"/>
                </a:solidFill>
              </a:rPr>
              <a:t>    –  Vicuna-7B language model — frozen in Stage 1, fine-tuned in Stage 2.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101010"/>
                </a:solidFill>
              </a:rPr>
              <a:t>•  Two-stage training:</a:t>
            </a:r>
          </a:p>
          <a:p>
            <a:pPr lvl="1">
              <a:spcAft>
                <a:spcPts val="400"/>
              </a:spcAft>
            </a:pPr>
            <a:r>
              <a:rPr sz="1900">
                <a:solidFill>
                  <a:srgbClr val="555555"/>
                </a:solidFill>
              </a:rPr>
              <a:t>    –  Stage 1 trains only the projection (~80 MB) on 558K image-caption pairs.</a:t>
            </a:r>
          </a:p>
          <a:p>
            <a:pPr lvl="1">
              <a:spcAft>
                <a:spcPts val="400"/>
              </a:spcAft>
            </a:pPr>
            <a:r>
              <a:rPr sz="1900">
                <a:solidFill>
                  <a:srgbClr val="555555"/>
                </a:solidFill>
              </a:rPr>
              <a:t>    –  Stage 2 fine-tunes the projection plus the LLM on 665K instructions.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101010"/>
                </a:solidFill>
              </a:rPr>
              <a:t>•  We use Stage 2 because it has meaningful gradient communication. Stage 1's AllReduce is too small to matter.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01010"/>
                </a:solidFill>
              </a:rPr>
              <a:t>Stage 2 — what we trained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101010"/>
                </a:solidFill>
              </a:rPr>
              <a:t>•  Starting checkpoint: liuhaotian/llava-v1.5-7b. The CLIP and MLP were already trained in Stage 1.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101010"/>
                </a:solidFill>
              </a:rPr>
              <a:t>•  Dataset: 10K random samples from llava_instruct_150k.json with COCO 2014 train images. One epoch keeps each run under an hour.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101010"/>
                </a:solidFill>
              </a:rPr>
              <a:t>•  Training target: LoRA adapters (r=128, α=256) on the LLM, plus the full MLP projection.</a:t>
            </a:r>
          </a:p>
          <a:p>
            <a:pPr lvl="1">
              <a:spcAft>
                <a:spcPts val="400"/>
              </a:spcAft>
            </a:pPr>
            <a:r>
              <a:rPr sz="1900">
                <a:solidFill>
                  <a:srgbClr val="555555"/>
                </a:solidFill>
              </a:rPr>
              <a:t>    –  ≈4.6% of total parameters — about 340M of 7.4B.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101010"/>
                </a:solidFill>
              </a:rPr>
              <a:t>•  AdamW, bf16, gradient checkpointing, cosine schedule.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101010"/>
                </a:solidFill>
              </a:rPr>
              <a:t>•  Effective batch sizes vary so each method actually fits in memory:</a:t>
            </a:r>
          </a:p>
          <a:p>
            <a:pPr lvl="1">
              <a:spcAft>
                <a:spcPts val="400"/>
              </a:spcAft>
            </a:pPr>
            <a:r>
              <a:rPr sz="1900">
                <a:solidFill>
                  <a:srgbClr val="555555"/>
                </a:solidFill>
              </a:rPr>
              <a:t>    –  DDP and ZeRO-2: 32 (per_device=16, world=2)</a:t>
            </a:r>
          </a:p>
          <a:p>
            <a:pPr lvl="1">
              <a:spcAft>
                <a:spcPts val="400"/>
              </a:spcAft>
            </a:pPr>
            <a:r>
              <a:rPr sz="1900">
                <a:solidFill>
                  <a:srgbClr val="555555"/>
                </a:solidFill>
              </a:rPr>
              <a:t>    –  Pipeline: 16 (per_device=1, accum=16, world=2)</a:t>
            </a:r>
          </a:p>
          <a:p>
            <a:pPr lvl="1">
              <a:spcAft>
                <a:spcPts val="400"/>
              </a:spcAft>
            </a:pPr>
            <a:r>
              <a:rPr sz="1900">
                <a:solidFill>
                  <a:srgbClr val="555555"/>
                </a:solidFill>
              </a:rPr>
              <a:t>    –  ZeRO-3 and FSDP: 8 (per_device=1, accum=4, world=2)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01010"/>
                </a:solidFill>
              </a:rPr>
              <a:t>What we compared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101010"/>
                </a:solidFill>
              </a:rPr>
              <a:t>•  Single-GPU LoRA — reference for what no parallelism looks like.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101010"/>
                </a:solidFill>
              </a:rPr>
              <a:t>•  DDP (DeepSpeed ZeRO-0) — naïve baseline; the model is replicated, gradients are AllReduce'd.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101010"/>
                </a:solidFill>
              </a:rPr>
              <a:t>•  Pipeline parallelism — the model is split across the two nodes. Owned by Ghallab.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101010"/>
                </a:solidFill>
              </a:rPr>
              <a:t>•  ZeRO-2 — data parallelism with sharded optimizer states and gradients. Owned by Omar.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101010"/>
                </a:solidFill>
              </a:rPr>
              <a:t>•  ZeRO-3 — same as ZeRO-2 but parameters are also sharded. Owned by Rassul.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101010"/>
                </a:solidFill>
              </a:rPr>
              <a:t>•  PyTorch FSDP — PyTorch-native equivalent of ZeRO-3, different implementation. Owned by Rassul.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101010"/>
                </a:solidFill>
              </a:rPr>
              <a:t>•  Every multi-node run uses the same two ws-ia nodes, same Ethernet link.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01010"/>
                </a:solidFill>
              </a:rPr>
              <a:t>Baseline 1: single GPU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101010"/>
                </a:solidFill>
              </a:rPr>
              <a:t>•  One RTX 5000 Ada, batch size 1, 10000 steps for one epoch over the 10K subset.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101010"/>
                </a:solidFill>
              </a:rPr>
              <a:t>•  Wall time: 96 minutes.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101010"/>
                </a:solidFill>
              </a:rPr>
              <a:t>•  Throughput: 1.74 samples/sec.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101010"/>
                </a:solidFill>
              </a:rPr>
              <a:t>•  Peak GPU memory: 25.7 GiB out of 32. Fits comfortably.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101010"/>
                </a:solidFill>
              </a:rPr>
              <a:t>•  Average GPU utilization: 11%.</a:t>
            </a:r>
          </a:p>
          <a:p>
            <a:pPr lvl="1">
              <a:spcAft>
                <a:spcPts val="400"/>
              </a:spcAft>
            </a:pPr>
            <a:r>
              <a:rPr sz="1900">
                <a:solidFill>
                  <a:srgbClr val="555555"/>
                </a:solidFill>
              </a:rPr>
              <a:t>    –  CPU-bound on data preprocessing — dataloader_num_workers=0, single-threaded image loading.</a:t>
            </a:r>
          </a:p>
          <a:p>
            <a:pPr lvl="1">
              <a:spcAft>
                <a:spcPts val="400"/>
              </a:spcAft>
            </a:pPr>
            <a:r>
              <a:rPr sz="1900">
                <a:solidFill>
                  <a:srgbClr val="555555"/>
                </a:solidFill>
              </a:rPr>
              <a:t>    –  The GPU spends most of its time waiting for the next batch.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101010"/>
                </a:solidFill>
              </a:rPr>
              <a:t>•  Final loss: 1.32 (avg 1.10 across the run).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101010"/>
                </a:solidFill>
              </a:rPr>
              <a:t>•  Reference for what 'no parallelism' looks like before we add anything.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01010"/>
                </a:solidFill>
              </a:rPr>
              <a:t>Baseline 2: DDP across two nodes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5852160" cy="5120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01010"/>
                </a:solidFill>
              </a:rPr>
              <a:t>•  PyTorch DistributedDataParallel via torchrun --nnodes=2.</a:t>
            </a:r>
          </a:p>
          <a:p>
            <a:pPr lvl="1">
              <a:spcAft>
                <a:spcPts val="400"/>
              </a:spcAft>
            </a:pPr>
            <a:r>
              <a:rPr sz="1700">
                <a:solidFill>
                  <a:srgbClr val="555555"/>
                </a:solidFill>
              </a:rPr>
              <a:t>    –  DeepSpeed ZeRO-0 — no sharding, each rank holds the whole model.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01010"/>
                </a:solidFill>
              </a:rPr>
              <a:t>•  Per-device batch 16, effective batch 32, 313 steps for one epoch.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01010"/>
                </a:solidFill>
              </a:rPr>
              <a:t>•  Wall time: 74.8 min — about 1.3× faster than single GPU.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01010"/>
                </a:solidFill>
              </a:rPr>
              <a:t>•  Throughput: 2.22 samples/sec.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01010"/>
                </a:solidFill>
              </a:rPr>
              <a:t>•  Peak GPU memory: 30.7 GiB.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01010"/>
                </a:solidFill>
              </a:rPr>
              <a:t>•  GPU utilization: 70.7%.</a:t>
            </a:r>
          </a:p>
          <a:p>
            <a:pPr lvl="1">
              <a:spcAft>
                <a:spcPts val="400"/>
              </a:spcAft>
            </a:pPr>
            <a:r>
              <a:rPr sz="1700">
                <a:solidFill>
                  <a:srgbClr val="555555"/>
                </a:solidFill>
              </a:rPr>
              <a:t>    –  Visible AllReduce stalls when both nodes wait on cross-node Ethernet.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01010"/>
                </a:solidFill>
              </a:rPr>
              <a:t>•  Final loss: 1.04. This is the reference everything else is compared against.</a:t>
            </a:r>
          </a:p>
        </p:txBody>
      </p:sp>
      <p:pic>
        <p:nvPicPr>
          <p:cNvPr id="4" name="Picture 3" descr="loss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645920"/>
            <a:ext cx="4937760" cy="30861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01010"/>
                </a:solidFill>
              </a:rPr>
              <a:t>DDP — GPU utilization over 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i="1">
                <a:solidFill>
                  <a:srgbClr val="555555"/>
                </a:solidFill>
              </a:rPr>
              <a:t>Sharp drops on every step are AllReduce stalls — the cost of cross-node Ethernet.</a:t>
            </a:r>
          </a:p>
        </p:txBody>
      </p:sp>
      <p:pic>
        <p:nvPicPr>
          <p:cNvPr id="4" name="Picture 3" descr="gpu_utilization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9676" y="1371600"/>
            <a:ext cx="82296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8346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0">
                <a:solidFill>
                  <a:srgbClr val="101010"/>
                </a:solidFill>
              </a:rPr>
              <a:t>Pipeline Parallelism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01010"/>
                </a:solidFill>
              </a:rPr>
              <a:t>How we built it (Ghallab)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101010"/>
                </a:solidFill>
              </a:rPr>
              <a:t>•  Manual two-stage pipeline. We didn't use torchgpipe or DeepSpeed-Pipeline.</a:t>
            </a:r>
          </a:p>
          <a:p>
            <a:pPr lvl="1">
              <a:spcAft>
                <a:spcPts val="400"/>
              </a:spcAft>
            </a:pPr>
            <a:r>
              <a:rPr sz="1900">
                <a:solidFill>
                  <a:srgbClr val="555555"/>
                </a:solidFill>
              </a:rPr>
              <a:t>    –  Custom training loop: LLaVA/llava/train/train_pipe_dist.py (~520 lines).</a:t>
            </a:r>
          </a:p>
          <a:p>
            <a:pPr lvl="1">
              <a:spcAft>
                <a:spcPts val="400"/>
              </a:spcAft>
            </a:pPr>
            <a:r>
              <a:rPr sz="1900">
                <a:solidFill>
                  <a:srgbClr val="555555"/>
                </a:solidFill>
              </a:rPr>
              <a:t>    –  Gloo backend for cross-node send/recv. NCCL had ordering issues with our mixed-dtype activations.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101010"/>
                </a:solidFill>
              </a:rPr>
              <a:t>•  The model is cut at decoder layer k. There are 32 decoder layers in Vicuna-7B.</a:t>
            </a:r>
          </a:p>
          <a:p>
            <a:pPr lvl="1">
              <a:spcAft>
                <a:spcPts val="400"/>
              </a:spcAft>
            </a:pPr>
            <a:r>
              <a:rPr sz="1900">
                <a:solidFill>
                  <a:srgbClr val="555555"/>
                </a:solidFill>
              </a:rPr>
              <a:t>    –  Rank 0 holds the vision tower (frozen), the MLP projection, and decoder layers 0..k-1.</a:t>
            </a:r>
          </a:p>
          <a:p>
            <a:pPr lvl="1">
              <a:spcAft>
                <a:spcPts val="400"/>
              </a:spcAft>
            </a:pPr>
            <a:r>
              <a:rPr sz="1900">
                <a:solidFill>
                  <a:srgbClr val="555555"/>
                </a:solidFill>
              </a:rPr>
              <a:t>    –  Rank 1 holds layers k..31, the final norm, the LM head, and computes loss.</a:t>
            </a:r>
          </a:p>
          <a:p>
            <a:pPr lvl="1">
              <a:spcAft>
                <a:spcPts val="400"/>
              </a:spcAft>
            </a:pPr>
            <a:r>
              <a:rPr sz="1900">
                <a:solidFill>
                  <a:srgbClr val="555555"/>
                </a:solidFill>
              </a:rPr>
              <a:t>    –  Activations flow forward, gradients flow back, by hand.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101010"/>
                </a:solidFill>
              </a:rPr>
              <a:t>•  Gradient accumulation 16, microbatch 1 → effective batch 16. LoRA is added on each rank's local layers.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01010"/>
                </a:solidFill>
              </a:rPr>
              <a:t>Finding a split that fits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101010"/>
                </a:solidFill>
              </a:rPr>
              <a:t>•  Picking the layer index k matters more than expected.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101010"/>
                </a:solidFill>
              </a:rPr>
              <a:t>•  k = 16 (50/50 by layer count): rank 0 OOMs in the first forward.</a:t>
            </a:r>
          </a:p>
          <a:p>
            <a:pPr lvl="1">
              <a:spcAft>
                <a:spcPts val="400"/>
              </a:spcAft>
            </a:pPr>
            <a:r>
              <a:rPr sz="1900">
                <a:solidFill>
                  <a:srgbClr val="555555"/>
                </a:solidFill>
              </a:rPr>
              <a:t>    –  Vision tower + image features sit on rank 0. With layers 0..15 it hits 31.4 GiB — over the 32 GiB card.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101010"/>
                </a:solidFill>
              </a:rPr>
              <a:t>•  k = 8 (push work to rank 1): rank 1 OOMs.</a:t>
            </a:r>
          </a:p>
          <a:p>
            <a:pPr lvl="1">
              <a:spcAft>
                <a:spcPts val="400"/>
              </a:spcAft>
            </a:pPr>
            <a:r>
              <a:rPr sz="1900">
                <a:solidFill>
                  <a:srgbClr val="555555"/>
                </a:solidFill>
              </a:rPr>
              <a:t>    –  LM head + final norm + layers 8..31 hit 31.0 GiB.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101010"/>
                </a:solidFill>
              </a:rPr>
              <a:t>•  k = 12 with microbatch 1 + grad accum 16: both ranks fit.</a:t>
            </a:r>
          </a:p>
          <a:p>
            <a:pPr lvl="1">
              <a:spcAft>
                <a:spcPts val="400"/>
              </a:spcAft>
            </a:pPr>
            <a:r>
              <a:rPr sz="1900">
                <a:solidFill>
                  <a:srgbClr val="555555"/>
                </a:solidFill>
              </a:rPr>
              <a:t>    –  Rank 1 ≈ 31.4 GiB, rank 0 ≈ 28 GiB. Run completes 625/625 steps.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101010"/>
                </a:solidFill>
              </a:rPr>
              <a:t>•  Lesson: layer count is a poor proxy for memory cost. The vision tower and LM head are heavier than they look.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01010"/>
                </a:solidFill>
              </a:rPr>
              <a:t>Pipeline —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5852160" cy="5120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01010"/>
                </a:solidFill>
              </a:rPr>
              <a:t>•  Wall time: 72.1 min. Almost identical to DDP.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01010"/>
                </a:solidFill>
              </a:rPr>
              <a:t>•  Throughput: 2.31 samples/sec — 1.04× DDP. Barely faster.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01010"/>
                </a:solidFill>
              </a:rPr>
              <a:t>•  Effective batch 16, half of DDP, so fewer steps per epoch.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01010"/>
                </a:solidFill>
              </a:rPr>
              <a:t>•  Peak GPU memory: 31.4 GiB on the heavier rank.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01010"/>
                </a:solidFill>
              </a:rPr>
              <a:t>•  GPU utilization is uneven: rank 0 at 34%, rank 1 at 56%.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555555"/>
                </a:solidFill>
              </a:rPr>
              <a:t>    –  Whichever rank finishes its layers first sits idle until the other catches up.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555555"/>
                </a:solidFill>
              </a:rPr>
              <a:t>    –  Gloo is much slower than NCCL, so the comm gap is wider.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01010"/>
                </a:solidFill>
              </a:rPr>
              <a:t>•  Final loss: 1.57 — higher than DDP because of the smaller effective batch.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01010"/>
                </a:solidFill>
              </a:rPr>
              <a:t>•  Pipeline made the model fit. It did not make it faster.</a:t>
            </a:r>
          </a:p>
        </p:txBody>
      </p:sp>
      <p:pic>
        <p:nvPicPr>
          <p:cNvPr id="4" name="Picture 3" descr="gpu_utilization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828800"/>
            <a:ext cx="4937760" cy="30861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8346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0">
                <a:solidFill>
                  <a:srgbClr val="101010"/>
                </a:solidFill>
              </a:rPr>
              <a:t>DeepSpeed ZeRO-2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01010"/>
                </a:solidFill>
              </a:rPr>
              <a:t>What ZeRO-2 actually does (Omar)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01010"/>
                </a:solidFill>
              </a:rPr>
              <a:t>•  Still data parallelism: each rank trains on a different microbatch.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01010"/>
                </a:solidFill>
              </a:rPr>
              <a:t>•  What's sharded across the two ranks vs DDP:</a:t>
            </a:r>
          </a:p>
          <a:p>
            <a:pPr lvl="1">
              <a:spcAft>
                <a:spcPts val="400"/>
              </a:spcAft>
            </a:pPr>
            <a:r>
              <a:rPr sz="1700">
                <a:solidFill>
                  <a:srgbClr val="555555"/>
                </a:solidFill>
              </a:rPr>
              <a:t>    –  Optimizer states (AdamW m, v) — sharded.</a:t>
            </a:r>
          </a:p>
          <a:p>
            <a:pPr lvl="1">
              <a:spcAft>
                <a:spcPts val="400"/>
              </a:spcAft>
            </a:pPr>
            <a:r>
              <a:rPr sz="1700">
                <a:solidFill>
                  <a:srgbClr val="555555"/>
                </a:solidFill>
              </a:rPr>
              <a:t>    –  Gradients — sharded after backward via ReduceScatter.</a:t>
            </a:r>
          </a:p>
          <a:p>
            <a:pPr lvl="1">
              <a:spcAft>
                <a:spcPts val="400"/>
              </a:spcAft>
            </a:pPr>
            <a:r>
              <a:rPr sz="1700">
                <a:solidFill>
                  <a:srgbClr val="555555"/>
                </a:solidFill>
              </a:rPr>
              <a:t>    –  Parameters — still replicated on every rank.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01010"/>
                </a:solidFill>
              </a:rPr>
              <a:t>•  Per-step communication:</a:t>
            </a:r>
          </a:p>
          <a:p>
            <a:pPr lvl="1">
              <a:spcAft>
                <a:spcPts val="400"/>
              </a:spcAft>
            </a:pPr>
            <a:r>
              <a:rPr sz="1700">
                <a:solidFill>
                  <a:srgbClr val="555555"/>
                </a:solidFill>
              </a:rPr>
              <a:t>    –  Backward pass ReduceScatters the gradients to their owner-rank shards.</a:t>
            </a:r>
          </a:p>
          <a:p>
            <a:pPr lvl="1">
              <a:spcAft>
                <a:spcPts val="400"/>
              </a:spcAft>
            </a:pPr>
            <a:r>
              <a:rPr sz="1700">
                <a:solidFill>
                  <a:srgbClr val="555555"/>
                </a:solidFill>
              </a:rPr>
              <a:t>    –  Each rank takes one optimizer step on its shard.</a:t>
            </a:r>
          </a:p>
          <a:p>
            <a:pPr lvl="1">
              <a:spcAft>
                <a:spcPts val="400"/>
              </a:spcAft>
            </a:pPr>
            <a:r>
              <a:rPr sz="1700">
                <a:solidFill>
                  <a:srgbClr val="555555"/>
                </a:solidFill>
              </a:rPr>
              <a:t>    –  AllGather puts the updated parameters back on every rank.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01010"/>
                </a:solidFill>
              </a:rPr>
              <a:t>•  On paper this saves a lot of memory. On a LoRA workload it doesn't, because the trainable optimizer state is already small.</a:t>
            </a:r>
          </a:p>
          <a:p>
            <a:pPr lvl="1">
              <a:spcAft>
                <a:spcPts val="400"/>
              </a:spcAft>
            </a:pPr>
            <a:r>
              <a:rPr sz="1700">
                <a:solidFill>
                  <a:srgbClr val="555555"/>
                </a:solidFill>
              </a:rPr>
              <a:t>    –  The real win comes from DeepSpeed's bucketed async overlap, not from sharding.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01010"/>
                </a:solidFill>
              </a:rPr>
              <a:t>ZeRO-2 —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5852160" cy="5120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01010"/>
                </a:solidFill>
              </a:rPr>
              <a:t>•  Wall time: 58.4 min — 16 minutes faster than DDP, 22% less wall-clock.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01010"/>
                </a:solidFill>
              </a:rPr>
              <a:t>•  Throughput: 2.85 samples/sec — 1.28× DDP.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01010"/>
                </a:solidFill>
              </a:rPr>
              <a:t>•  Peak GPU memory: 27.6 GiB. About 3 GiB lower than DDP.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01010"/>
                </a:solidFill>
              </a:rPr>
              <a:t>•  GPU utilization: 88.5% (DDP was 70.7%).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555555"/>
                </a:solidFill>
              </a:rPr>
              <a:t>    –  DeepSpeed's overlap fills the AllReduce-stall gap that DDP couldn't hide.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01010"/>
                </a:solidFill>
              </a:rPr>
              <a:t>•  Final loss: 1.11 — same as DDP within noise.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01010"/>
                </a:solidFill>
              </a:rPr>
              <a:t>•  Why isn't the speedup closer to 2×?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555555"/>
                </a:solidFill>
              </a:rPr>
              <a:t>    –  LoRA's optimizer state is tiny, so there isn't much to shard.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555555"/>
                </a:solidFill>
              </a:rPr>
              <a:t>    –  Most of the win is the better overlap, not the sharding itself.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01010"/>
                </a:solidFill>
              </a:rPr>
              <a:t>•  Even so: this is the only method in the comparison that beats plain DDP.</a:t>
            </a:r>
          </a:p>
        </p:txBody>
      </p:sp>
      <p:pic>
        <p:nvPicPr>
          <p:cNvPr id="4" name="Picture 3" descr="gpu_utilization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828800"/>
            <a:ext cx="4937760" cy="30861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8346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0">
                <a:solidFill>
                  <a:srgbClr val="101010"/>
                </a:solidFill>
              </a:rPr>
              <a:t>DeepSpeed ZeRO-3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01010"/>
                </a:solidFill>
              </a:rPr>
              <a:t>ZeRO-3: shard everything (Rassul)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01010"/>
                </a:solidFill>
              </a:rPr>
              <a:t>•  Same data-parallel semantics as ZeRO-2. Each rank still sees a different microbatch.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01010"/>
                </a:solidFill>
              </a:rPr>
              <a:t>•  The difference: parameters are also sharded across the two ranks.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01010"/>
                </a:solidFill>
              </a:rPr>
              <a:t>•  Per-step comm now happens at every layer, twice: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555555"/>
                </a:solidFill>
              </a:rPr>
              <a:t>    –  Forward pass: AllGather parameters for layer N → compute → drop them.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555555"/>
                </a:solidFill>
              </a:rPr>
              <a:t>    –  Backward pass: AllGather them again → compute gradients → drop again.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555555"/>
                </a:solidFill>
              </a:rPr>
              <a:t>    –  ReduceScatter the gradients at the end of backward, then run the optimizer on each shard.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01010"/>
                </a:solidFill>
              </a:rPr>
              <a:t>•  On 2 ranks, ~7 GB of parameters live on each. But every layer briefly re-materializes its full ~430 MB on every rank.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01010"/>
                </a:solidFill>
              </a:rPr>
              <a:t>•  Back-of-envelope for our model: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555555"/>
                </a:solidFill>
              </a:rPr>
              <a:t>    –  32 transformer layers × 430 MB × 2 (fwd + bwd) ≈ 27.5 GB transferred per step.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555555"/>
                </a:solidFill>
              </a:rPr>
              <a:t>    –  Over 1 Gbps Ethernet: roughly 4 minutes of comm per step before any compute.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01010"/>
                </a:solidFill>
              </a:rPr>
              <a:t>•  We used configs/zero3_bounded_async.json: bucketed allgather/reduce at 50 MB.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01010"/>
                </a:solidFill>
              </a:rPr>
              <a:t>ZeRO-3 —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01010"/>
                </a:solidFill>
              </a:rPr>
              <a:t>•  Hit the SLURM time limit before finishing. Reached 292 of 1250 steps in 3 h 52 min.</a:t>
            </a:r>
          </a:p>
          <a:p>
            <a:pPr lvl="1">
              <a:spcAft>
                <a:spcPts val="400"/>
              </a:spcAft>
            </a:pPr>
            <a:r>
              <a:rPr sz="1700">
                <a:solidFill>
                  <a:srgbClr val="555555"/>
                </a:solidFill>
              </a:rPr>
              <a:t>    –  Each step took about 48 seconds. Projected full run: 16.5 hours.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01010"/>
                </a:solidFill>
              </a:rPr>
              <a:t>•  Throughput: 0.17 samples/sec — about 13× slower than DDP.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01010"/>
                </a:solidFill>
              </a:rPr>
              <a:t>•  Peak GPU memory: 22 GiB — actual sharding showing up.</a:t>
            </a:r>
          </a:p>
          <a:p>
            <a:pPr lvl="1">
              <a:spcAft>
                <a:spcPts val="400"/>
              </a:spcAft>
            </a:pPr>
            <a:r>
              <a:rPr sz="1700">
                <a:solidFill>
                  <a:srgbClr val="555555"/>
                </a:solidFill>
              </a:rPr>
              <a:t>    –  But memory was never the bottleneck on this card. Communication was.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01010"/>
                </a:solidFill>
              </a:rPr>
              <a:t>•  GPU utilization: 99%. This is misleading.</a:t>
            </a:r>
          </a:p>
          <a:p>
            <a:pPr lvl="1">
              <a:spcAft>
                <a:spcPts val="400"/>
              </a:spcAft>
            </a:pPr>
            <a:r>
              <a:rPr sz="1700">
                <a:solidFill>
                  <a:srgbClr val="555555"/>
                </a:solidFill>
              </a:rPr>
              <a:t>    –  DeepSpeed pipelines comm with compute, so 'utilization' includes time spent waiting on AllGather.</a:t>
            </a:r>
          </a:p>
          <a:p>
            <a:pPr lvl="1">
              <a:spcAft>
                <a:spcPts val="400"/>
              </a:spcAft>
            </a:pPr>
            <a:r>
              <a:rPr sz="1700">
                <a:solidFill>
                  <a:srgbClr val="555555"/>
                </a:solidFill>
              </a:rPr>
              <a:t>    –  High util doesn't mean fast — it means the engine kept the GPU busy on something.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01010"/>
                </a:solidFill>
              </a:rPr>
              <a:t>•  Last logged loss: 1.31. Convergence was fine — the run was just too slow to finish.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01010"/>
                </a:solidFill>
              </a:rPr>
              <a:t>•  Diagnosis: per-layer AllGather over 1 Gbps Ethernet is the wall.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8346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0">
                <a:solidFill>
                  <a:srgbClr val="101010"/>
                </a:solidFill>
              </a:rPr>
              <a:t>PyTorch FSDP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01010"/>
                </a:solidFill>
              </a:rPr>
              <a:t>FSDP: PyTorch's take (Rassul)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01010"/>
                </a:solidFill>
              </a:rPr>
              <a:t>•  PyTorch-native equivalent of ZeRO-3. Same algorithm, different implementation.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01010"/>
                </a:solidFill>
              </a:rPr>
              <a:t>•  Design choices that differ from DeepSpeed:</a:t>
            </a:r>
          </a:p>
          <a:p>
            <a:pPr lvl="1">
              <a:spcAft>
                <a:spcPts val="400"/>
              </a:spcAft>
            </a:pPr>
            <a:r>
              <a:rPr sz="1700">
                <a:solidFill>
                  <a:srgbClr val="555555"/>
                </a:solidFill>
              </a:rPr>
              <a:t>    –  Each transformer block is wrapped as one FSDP unit (a contiguous FlatParameter).</a:t>
            </a:r>
          </a:p>
          <a:p>
            <a:pPr lvl="1">
              <a:spcAft>
                <a:spcPts val="400"/>
              </a:spcAft>
            </a:pPr>
            <a:r>
              <a:rPr sz="1700">
                <a:solidFill>
                  <a:srgbClr val="555555"/>
                </a:solidFill>
              </a:rPr>
              <a:t>    –  AllGather happens at the unit boundary, not per-tensor.</a:t>
            </a:r>
          </a:p>
          <a:p>
            <a:pPr lvl="1">
              <a:spcAft>
                <a:spcPts val="400"/>
              </a:spcAft>
            </a:pPr>
            <a:r>
              <a:rPr sz="1700">
                <a:solidFill>
                  <a:srgbClr val="555555"/>
                </a:solidFill>
              </a:rPr>
              <a:t>    –  Mixed precision is set explicitly via a policy (we used bf16).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01010"/>
                </a:solidFill>
              </a:rPr>
              <a:t>•  Our config: full_shard auto_wrap on LlamaDecoderLayer, use_orig_params=True (required for LoRA), cpu_ram_efficient_loading=true.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01010"/>
                </a:solidFill>
              </a:rPr>
              <a:t>•  Two LLaVA-specific bugs we had to patch to get this running:</a:t>
            </a:r>
          </a:p>
          <a:p>
            <a:pPr lvl="1">
              <a:spcAft>
                <a:spcPts val="400"/>
              </a:spcAft>
            </a:pPr>
            <a:r>
              <a:rPr sz="1700">
                <a:solidFill>
                  <a:srgbClr val="555555"/>
                </a:solidFill>
              </a:rPr>
              <a:t>    –  self.vision_tower[0] crashes when loading from a vendored checkpoint where vision_tower isn't a list.</a:t>
            </a:r>
          </a:p>
          <a:p>
            <a:pPr lvl="1">
              <a:spcAft>
                <a:spcPts val="400"/>
              </a:spcAft>
            </a:pPr>
            <a:r>
              <a:rPr sz="1700">
                <a:solidFill>
                  <a:srgbClr val="555555"/>
                </a:solidFill>
              </a:rPr>
              <a:t>    –  LoRA adapters are created in fp32 after the base model is cast to bf16. FSDP requires uniform dtype, so we cast LoRA to bf16 too.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01010"/>
                </a:solidFill>
              </a:rPr>
              <a:t>FSDP —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5852160" cy="5120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101010"/>
                </a:solidFill>
              </a:rPr>
              <a:t>•  Stopped early at step 28 of 1250 to capture metrics — same shape as the ZeRO-3 timeout.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01010"/>
                </a:solidFill>
              </a:rPr>
              <a:t>•  Wall time observed: 39 min. Each step took about 80 seconds.</a:t>
            </a:r>
          </a:p>
          <a:p>
            <a:pPr lvl="1">
              <a:spcAft>
                <a:spcPts val="400"/>
              </a:spcAft>
            </a:pPr>
            <a:r>
              <a:rPr sz="1400">
                <a:solidFill>
                  <a:srgbClr val="555555"/>
                </a:solidFill>
              </a:rPr>
              <a:t>    –  Projected full run: 27.9 hours. Slower than ZeRO-3.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01010"/>
                </a:solidFill>
              </a:rPr>
              <a:t>•  Throughput: 0.095 samples/sec — about 22× slower than DDP, ~1.7× slower than ZeRO-3.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01010"/>
                </a:solidFill>
              </a:rPr>
              <a:t>•  Peak GPU memory: 32.3 GiB. Right at the card's limit.</a:t>
            </a:r>
          </a:p>
          <a:p>
            <a:pPr lvl="1">
              <a:spcAft>
                <a:spcPts val="400"/>
              </a:spcAft>
            </a:pPr>
            <a:r>
              <a:rPr sz="1400">
                <a:solidFill>
                  <a:srgbClr val="555555"/>
                </a:solidFill>
              </a:rPr>
              <a:t>    –  FSDP's contiguous FlatParameter is bigger than DeepSpeed's bucket-based scheme.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01010"/>
                </a:solidFill>
              </a:rPr>
              <a:t>•  GPU utilization: 97.5%.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01010"/>
                </a:solidFill>
              </a:rPr>
              <a:t>•  Why slower than ZeRO-3 on the same hardware?</a:t>
            </a:r>
          </a:p>
          <a:p>
            <a:pPr lvl="1">
              <a:spcAft>
                <a:spcPts val="400"/>
              </a:spcAft>
            </a:pPr>
            <a:r>
              <a:rPr sz="1400">
                <a:solidFill>
                  <a:srgbClr val="555555"/>
                </a:solidFill>
              </a:rPr>
              <a:t>    –  DeepSpeed's bounded async config (50 MB buckets) overlaps comm with compute aggressively.</a:t>
            </a:r>
          </a:p>
          <a:p>
            <a:pPr lvl="1">
              <a:spcAft>
                <a:spcPts val="400"/>
              </a:spcAft>
            </a:pPr>
            <a:r>
              <a:rPr sz="1400">
                <a:solidFill>
                  <a:srgbClr val="555555"/>
                </a:solidFill>
              </a:rPr>
              <a:t>    –  FSDP's defaults wait for each transformer block's AllGather to finish before computing.</a:t>
            </a:r>
          </a:p>
          <a:p>
            <a:pPr lvl="1">
              <a:spcAft>
                <a:spcPts val="400"/>
              </a:spcAft>
            </a:pPr>
            <a:r>
              <a:rPr sz="1400">
                <a:solidFill>
                  <a:srgbClr val="555555"/>
                </a:solidFill>
              </a:rPr>
              <a:t>    –  Same algorithm, different async behavior — the difference is real on a slow link.</a:t>
            </a:r>
          </a:p>
        </p:txBody>
      </p:sp>
      <p:pic>
        <p:nvPicPr>
          <p:cNvPr id="4" name="Picture 3" descr="gpu_utilization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828800"/>
            <a:ext cx="4937760" cy="30861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8346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0">
                <a:solidFill>
                  <a:srgbClr val="101010"/>
                </a:solidFill>
              </a:rPr>
              <a:t>Putting it all together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01010"/>
                </a:solidFill>
              </a:rPr>
              <a:t>Throughput by 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i="1">
                <a:solidFill>
                  <a:srgbClr val="555555"/>
                </a:solidFill>
              </a:rPr>
              <a:t>ZeRO-2 wins. ZeRO-3 and FSDP collapse on the cross-node link.</a:t>
            </a:r>
          </a:p>
        </p:txBody>
      </p:sp>
      <p:pic>
        <p:nvPicPr>
          <p:cNvPr id="4" name="Picture 3" descr="1_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8276" y="1371600"/>
            <a:ext cx="7772400" cy="51816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01010"/>
                </a:solidFill>
              </a:rPr>
              <a:t>Speedup vs DDP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i="1">
                <a:solidFill>
                  <a:srgbClr val="555555"/>
                </a:solidFill>
              </a:rPr>
              <a:t>Only ZeRO-2 actually beats the naïve baseline.</a:t>
            </a:r>
          </a:p>
        </p:txBody>
      </p:sp>
      <p:pic>
        <p:nvPicPr>
          <p:cNvPr id="4" name="Picture 3" descr="3_speedup_vs_dd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8276" y="1371600"/>
            <a:ext cx="7772400" cy="51816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01010"/>
                </a:solidFill>
              </a:rPr>
              <a:t>Peak GPU memory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i="1">
                <a:solidFill>
                  <a:srgbClr val="555555"/>
                </a:solidFill>
              </a:rPr>
              <a:t>ZeRO-3 shards the most, FSDP saturates the card. ZeRO-2 hits a sweet spot.</a:t>
            </a:r>
          </a:p>
        </p:txBody>
      </p:sp>
      <p:pic>
        <p:nvPicPr>
          <p:cNvPr id="4" name="Picture 3" descr="4_gpu_mem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8276" y="1371600"/>
            <a:ext cx="7772400" cy="51816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01010"/>
                </a:solidFill>
              </a:rPr>
              <a:t>Goodput — loss reduction per second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i="1">
                <a:solidFill>
                  <a:srgbClr val="555555"/>
                </a:solidFill>
              </a:rPr>
              <a:t>What you get back from each second of GPU time.</a:t>
            </a:r>
          </a:p>
        </p:txBody>
      </p:sp>
      <p:pic>
        <p:nvPicPr>
          <p:cNvPr id="4" name="Picture 3" descr="9a_goodput_per_s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8276" y="1371600"/>
            <a:ext cx="7772400" cy="51816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01010"/>
                </a:solidFill>
              </a:rPr>
              <a:t>Statistical efficiency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i="1">
                <a:solidFill>
                  <a:srgbClr val="555555"/>
                </a:solidFill>
              </a:rPr>
              <a:t>Loss reduction per training sample. Larger effective batches converge faster per sample.</a:t>
            </a:r>
          </a:p>
        </p:txBody>
      </p:sp>
      <p:pic>
        <p:nvPicPr>
          <p:cNvPr id="4" name="Picture 3" descr="9b_goodput_per_sa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8276" y="1371600"/>
            <a:ext cx="7772400" cy="51816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01010"/>
                </a:solidFill>
              </a:rPr>
              <a:t>Loss vs step (smoothed)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i="1">
                <a:solidFill>
                  <a:srgbClr val="555555"/>
                </a:solidFill>
              </a:rPr>
              <a:t>Methods that completed all reach a similar loss. The gap is wall-clock, not statistical.</a:t>
            </a:r>
          </a:p>
        </p:txBody>
      </p:sp>
      <p:pic>
        <p:nvPicPr>
          <p:cNvPr id="4" name="Picture 3" descr="6_loss_vs_st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9676" y="1371600"/>
            <a:ext cx="82296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01010"/>
                </a:solidFill>
              </a:rPr>
              <a:t>What we learned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800"/>
              </a:spcAft>
            </a:pPr>
            <a:r>
              <a:rPr sz="2100">
                <a:solidFill>
                  <a:srgbClr val="101010"/>
                </a:solidFill>
              </a:rPr>
              <a:t>•  ZeRO-2 is the right tool for LoRA fine-tuning on slow interconnects.</a:t>
            </a:r>
          </a:p>
          <a:p>
            <a:pPr lvl="1">
              <a:spcAft>
                <a:spcPts val="400"/>
              </a:spcAft>
            </a:pPr>
            <a:r>
              <a:rPr sz="1800">
                <a:solidFill>
                  <a:srgbClr val="555555"/>
                </a:solidFill>
              </a:rPr>
              <a:t>    –  Sharding optimizer + grads is enough. DeepSpeed's overlap quietly does the rest.</a:t>
            </a:r>
          </a:p>
          <a:p>
            <a:pPr>
              <a:spcAft>
                <a:spcPts val="800"/>
              </a:spcAft>
            </a:pPr>
            <a:r>
              <a:rPr sz="2100">
                <a:solidFill>
                  <a:srgbClr val="101010"/>
                </a:solidFill>
              </a:rPr>
              <a:t>•  Pipeline parallelism made the model fit but not faster.</a:t>
            </a:r>
          </a:p>
          <a:p>
            <a:pPr lvl="1">
              <a:spcAft>
                <a:spcPts val="400"/>
              </a:spcAft>
            </a:pPr>
            <a:r>
              <a:rPr sz="1800">
                <a:solidFill>
                  <a:srgbClr val="555555"/>
                </a:solidFill>
              </a:rPr>
              <a:t>    –  Cross-node Gloo activation transfers are slower than DDP's single AllReduce.</a:t>
            </a:r>
          </a:p>
          <a:p>
            <a:pPr lvl="1">
              <a:spcAft>
                <a:spcPts val="400"/>
              </a:spcAft>
            </a:pPr>
            <a:r>
              <a:rPr sz="1800">
                <a:solidFill>
                  <a:srgbClr val="555555"/>
                </a:solidFill>
              </a:rPr>
              <a:t>    –  Layer count is a poor proxy for memory cost — the vision tower and LM head dominate.</a:t>
            </a:r>
          </a:p>
          <a:p>
            <a:pPr>
              <a:spcAft>
                <a:spcPts val="800"/>
              </a:spcAft>
            </a:pPr>
            <a:r>
              <a:rPr sz="2100">
                <a:solidFill>
                  <a:srgbClr val="101010"/>
                </a:solidFill>
              </a:rPr>
              <a:t>•  ZeRO-3 and FSDP fall apart over Ethernet.</a:t>
            </a:r>
          </a:p>
          <a:p>
            <a:pPr lvl="1">
              <a:spcAft>
                <a:spcPts val="400"/>
              </a:spcAft>
            </a:pPr>
            <a:r>
              <a:rPr sz="1800">
                <a:solidFill>
                  <a:srgbClr val="555555"/>
                </a:solidFill>
              </a:rPr>
              <a:t>    –  Per-layer AllGather of full bf16 weights is intractable on 1 Gbps.</a:t>
            </a:r>
          </a:p>
          <a:p>
            <a:pPr lvl="1">
              <a:spcAft>
                <a:spcPts val="400"/>
              </a:spcAft>
            </a:pPr>
            <a:r>
              <a:rPr sz="1800">
                <a:solidFill>
                  <a:srgbClr val="555555"/>
                </a:solidFill>
              </a:rPr>
              <a:t>    –  Implementation matters — DeepSpeed ZeRO-3 is ~1.7× faster than PyTorch FSDP because of better overlap.</a:t>
            </a:r>
          </a:p>
          <a:p>
            <a:pPr>
              <a:spcAft>
                <a:spcPts val="800"/>
              </a:spcAft>
            </a:pPr>
            <a:r>
              <a:rPr sz="2100">
                <a:solidFill>
                  <a:srgbClr val="101010"/>
                </a:solidFill>
              </a:rPr>
              <a:t>•  These methods would scale on InfiniBand or NVLink. Wrong tool for this hardware.</a:t>
            </a:r>
          </a:p>
          <a:p>
            <a:pPr>
              <a:spcAft>
                <a:spcPts val="800"/>
              </a:spcAft>
            </a:pPr>
            <a:r>
              <a:rPr sz="2100">
                <a:solidFill>
                  <a:srgbClr val="101010"/>
                </a:solidFill>
              </a:rPr>
              <a:t>•  A 7B model with LoRA fits comfortably on a single 32 GiB card. Pick a data-parallel variant.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600" b="1">
                <a:solidFill>
                  <a:srgbClr val="101010"/>
                </a:solidFill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023360"/>
            <a:ext cx="1124712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>
                <a:solidFill>
                  <a:srgbClr val="555555"/>
                </a:solidFill>
              </a:rPr>
              <a:t>Questions?</a:t>
            </a:r>
          </a:p>
          <a:p>
            <a:pPr algn="ctr"/>
            <a:r>
              <a:rPr sz="1800">
                <a:solidFill>
                  <a:srgbClr val="555555"/>
                </a:solidFill>
              </a:rPr>
              <a:t>github.com/rassulmagauin/ml710 · ZERO2_RESULTS.md · results_explanation.md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