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12471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400" b="1">
                <a:solidFill>
                  <a:srgbClr val="101010"/>
                </a:solidFill>
              </a:rPr>
              <a:t>ML710 Project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124712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200">
                <a:solidFill>
                  <a:srgbClr val="555555"/>
                </a:solidFill>
              </a:rPr>
              <a:t>Parallelizing LLaVA Training</a:t>
            </a:r>
          </a:p>
          <a:p>
            <a:pPr algn="ctr"/>
            <a:r>
              <a:rPr sz="1800">
                <a:solidFill>
                  <a:srgbClr val="555555"/>
                </a:solidFill>
              </a:rPr>
              <a:t>Rassul Magauin · Omar Ahmed · Youssef Ghallab
MBZUAI · Spring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47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0">
                <a:solidFill>
                  <a:srgbClr val="101010"/>
                </a:solidFill>
              </a:rPr>
              <a:t>Hardware &amp; Setup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57607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600">
                <a:solidFill>
                  <a:srgbClr val="101010"/>
                </a:solidFill>
              </a:rPr>
              <a:t>- Cluster: MBZUAI HPC (login-student-lab.mbzu.ae)</a:t>
            </a:r>
          </a:p>
          <a:p>
            <a:pPr lvl="1">
              <a:spcAft>
                <a:spcPts val="400"/>
              </a:spcAft>
            </a:pPr>
            <a:r>
              <a:rPr sz="1400">
                <a:solidFill>
                  <a:srgbClr val="555555"/>
                </a:solidFill>
              </a:rPr>
              <a:t>    - ws-ia partition: 1× NVIDIA RTX 5000 Ada (32 GB) per node</a:t>
            </a:r>
          </a:p>
          <a:p>
            <a:pPr lvl="1">
              <a:spcAft>
                <a:spcPts val="400"/>
              </a:spcAft>
            </a:pPr>
            <a:r>
              <a:rPr sz="1400">
                <a:solidFill>
                  <a:srgbClr val="555555"/>
                </a:solidFill>
              </a:rPr>
              <a:t>    - 116 nodes total, 48 CPUs / 230 GB RAM each</a:t>
            </a:r>
          </a:p>
          <a:p>
            <a:pPr lvl="1">
              <a:spcAft>
                <a:spcPts val="400"/>
              </a:spcAft>
            </a:pPr>
            <a:r>
              <a:rPr sz="1400">
                <a:solidFill>
                  <a:srgbClr val="555555"/>
                </a:solidFill>
              </a:rPr>
              <a:t>    - Inter-node link: ~1 Gbps Ethernet (no NVLink, no InfiniBand)</a:t>
            </a:r>
          </a:p>
          <a:p>
            <a:pPr lvl="1">
              <a:spcAft>
                <a:spcPts val="400"/>
              </a:spcAft>
            </a:pPr>
            <a:r>
              <a:rPr sz="1400">
                <a:solidFill>
                  <a:srgbClr val="555555"/>
                </a:solidFill>
              </a:rPr>
              <a:t>    - gpu partition limited to 1 GPU per user (gpu-1 QOS)</a:t>
            </a:r>
          </a:p>
          <a:p>
            <a:pPr>
              <a:spcAft>
                <a:spcPts val="400"/>
              </a:spcAft>
            </a:pPr>
            <a:r>
              <a:rPr sz="1600">
                <a:solidFill>
                  <a:srgbClr val="101010"/>
                </a:solidFill>
              </a:rPr>
              <a:t>- Multi-GPU = 2 separate salloc sessions on ws-ia + torchrun --nnodes=2</a:t>
            </a:r>
          </a:p>
          <a:p>
            <a:pPr>
              <a:spcAft>
                <a:spcPts val="400"/>
              </a:spcAft>
            </a:pPr>
            <a:r>
              <a:rPr sz="1600">
                <a:solidFill>
                  <a:srgbClr val="101010"/>
                </a:solidFill>
              </a:rPr>
              <a:t>- Software: Python 3.10, PyTorch 2.1.2, DeepSpeed 0.12.6, Transformers 4.37.2, peft 0.6.0</a:t>
            </a:r>
          </a:p>
          <a:p>
            <a:pPr>
              <a:spcAft>
                <a:spcPts val="400"/>
              </a:spcAft>
            </a:pPr>
            <a:r>
              <a:rPr sz="1600">
                <a:solidFill>
                  <a:srgbClr val="101010"/>
                </a:solidFill>
              </a:rPr>
              <a:t>- Team: 3 students, each owning at least one parallelism strategy</a:t>
            </a:r>
          </a:p>
          <a:p>
            <a:pPr lvl="1">
              <a:spcAft>
                <a:spcPts val="400"/>
              </a:spcAft>
            </a:pPr>
            <a:r>
              <a:rPr sz="1400">
                <a:solidFill>
                  <a:srgbClr val="555555"/>
                </a:solidFill>
              </a:rPr>
              <a:t>    - Pipeline parallelism — Youssef Ghallab</a:t>
            </a:r>
          </a:p>
          <a:p>
            <a:pPr lvl="1">
              <a:spcAft>
                <a:spcPts val="400"/>
              </a:spcAft>
            </a:pPr>
            <a:r>
              <a:rPr sz="1400">
                <a:solidFill>
                  <a:srgbClr val="555555"/>
                </a:solidFill>
              </a:rPr>
              <a:t>    - DeepSpeed ZeRO-2 — Omar Ahmed</a:t>
            </a:r>
          </a:p>
          <a:p>
            <a:pPr lvl="1">
              <a:spcAft>
                <a:spcPts val="400"/>
              </a:spcAft>
            </a:pPr>
            <a:r>
              <a:rPr sz="1400">
                <a:solidFill>
                  <a:srgbClr val="555555"/>
                </a:solidFill>
              </a:rPr>
              <a:t>    - DeepSpeed ZeRO-3 + PyTorch FSDP — Rassul Magauin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47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0">
                <a:solidFill>
                  <a:srgbClr val="101010"/>
                </a:solidFill>
              </a:rPr>
              <a:t>ML task: LLaVA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600">
                <a:solidFill>
                  <a:srgbClr val="101010"/>
                </a:solidFill>
              </a:rPr>
              <a:t>- Liu et al., "Visual Instruction Tuning", NeurIPS 2023</a:t>
            </a:r>
          </a:p>
          <a:p>
            <a:pPr>
              <a:spcAft>
                <a:spcPts val="400"/>
              </a:spcAft>
            </a:pPr>
            <a:r>
              <a:rPr sz="1600">
                <a:solidFill>
                  <a:srgbClr val="101010"/>
                </a:solidFill>
              </a:rPr>
              <a:t>- Multimodal: image + text → text</a:t>
            </a:r>
          </a:p>
          <a:p>
            <a:pPr>
              <a:spcAft>
                <a:spcPts val="400"/>
              </a:spcAft>
            </a:pPr>
            <a:r>
              <a:rPr sz="1600">
                <a:solidFill>
                  <a:srgbClr val="101010"/>
                </a:solidFill>
              </a:rPr>
              <a:t>- Architecture (7B params total):</a:t>
            </a:r>
          </a:p>
          <a:p>
            <a:pPr lvl="1">
              <a:spcAft>
                <a:spcPts val="400"/>
              </a:spcAft>
            </a:pPr>
            <a:r>
              <a:rPr sz="1400">
                <a:solidFill>
                  <a:srgbClr val="555555"/>
                </a:solidFill>
              </a:rPr>
              <a:t>    - CLIP ViT-L/14-336 vision encoder — frozen throughout</a:t>
            </a:r>
          </a:p>
          <a:p>
            <a:pPr lvl="1">
              <a:spcAft>
                <a:spcPts val="400"/>
              </a:spcAft>
            </a:pPr>
            <a:r>
              <a:rPr sz="1400">
                <a:solidFill>
                  <a:srgbClr val="555555"/>
                </a:solidFill>
              </a:rPr>
              <a:t>    - 2-layer MLP (GELU) projection — trainable, ≈80 MB</a:t>
            </a:r>
          </a:p>
          <a:p>
            <a:pPr lvl="1">
              <a:spcAft>
                <a:spcPts val="400"/>
              </a:spcAft>
            </a:pPr>
            <a:r>
              <a:rPr sz="1400">
                <a:solidFill>
                  <a:srgbClr val="555555"/>
                </a:solidFill>
              </a:rPr>
              <a:t>    - Vicuna-7B LLM — frozen in Stage 1, fine-tuned in Stage 2</a:t>
            </a:r>
          </a:p>
          <a:p>
            <a:pPr>
              <a:spcAft>
                <a:spcPts val="400"/>
              </a:spcAft>
            </a:pPr>
            <a:r>
              <a:rPr sz="1600">
                <a:solidFill>
                  <a:srgbClr val="101010"/>
                </a:solidFill>
              </a:rPr>
              <a:t>- Two training stages:</a:t>
            </a:r>
          </a:p>
          <a:p>
            <a:pPr lvl="1">
              <a:spcAft>
                <a:spcPts val="400"/>
              </a:spcAft>
            </a:pPr>
            <a:r>
              <a:rPr sz="1400">
                <a:solidFill>
                  <a:srgbClr val="555555"/>
                </a:solidFill>
              </a:rPr>
              <a:t>    - Stage 1 (pre-train): MLP only on 558K image-caption pairs</a:t>
            </a:r>
          </a:p>
          <a:p>
            <a:pPr lvl="1">
              <a:spcAft>
                <a:spcPts val="400"/>
              </a:spcAft>
            </a:pPr>
            <a:r>
              <a:rPr sz="1400">
                <a:solidFill>
                  <a:srgbClr val="555555"/>
                </a:solidFill>
              </a:rPr>
              <a:t>    - Stage 2 (fine-tune): MLP + LLM (or LoRA) on 665K instructions</a:t>
            </a:r>
          </a:p>
          <a:p>
            <a:pPr>
              <a:spcAft>
                <a:spcPts val="400"/>
              </a:spcAft>
            </a:pPr>
            <a:r>
              <a:rPr sz="1600">
                <a:solidFill>
                  <a:srgbClr val="101010"/>
                </a:solidFill>
              </a:rPr>
              <a:t>- Stage 2 is our main benchmark — meaningful comm volume</a:t>
            </a:r>
          </a:p>
          <a:p>
            <a:pPr lvl="1">
              <a:spcAft>
                <a:spcPts val="400"/>
              </a:spcAft>
            </a:pPr>
            <a:r>
              <a:rPr sz="1400">
                <a:solidFill>
                  <a:srgbClr val="555555"/>
                </a:solidFill>
              </a:rPr>
              <a:t>    - Stage 1 has only ~80 MB trainable; AllReduce trivial</a:t>
            </a:r>
          </a:p>
          <a:p>
            <a:pPr lvl="1">
              <a:spcAft>
                <a:spcPts val="400"/>
              </a:spcAft>
            </a:pPr>
            <a:r>
              <a:rPr sz="1400">
                <a:solidFill>
                  <a:srgbClr val="555555"/>
                </a:solidFill>
              </a:rPr>
              <a:t>    - Stage 2 LoRA: ~340 MB trainable adapters, real DP cost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47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0">
                <a:solidFill>
                  <a:srgbClr val="101010"/>
                </a:solidFill>
              </a:rPr>
              <a:t>Stage 2 setup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600">
                <a:solidFill>
                  <a:srgbClr val="101010"/>
                </a:solidFill>
              </a:rPr>
              <a:t>- Starting checkpoint: liuhaotian/llava-v1.5-7b</a:t>
            </a:r>
          </a:p>
          <a:p>
            <a:pPr lvl="1">
              <a:spcAft>
                <a:spcPts val="400"/>
              </a:spcAft>
            </a:pPr>
            <a:r>
              <a:rPr sz="1400">
                <a:solidFill>
                  <a:srgbClr val="555555"/>
                </a:solidFill>
              </a:rPr>
              <a:t>    - CLIP + MLP already pretrained on 558K LAION/CC/SBU pairs</a:t>
            </a:r>
          </a:p>
          <a:p>
            <a:pPr>
              <a:spcAft>
                <a:spcPts val="400"/>
              </a:spcAft>
            </a:pPr>
            <a:r>
              <a:rPr sz="1600">
                <a:solidFill>
                  <a:srgbClr val="101010"/>
                </a:solidFill>
              </a:rPr>
              <a:t>- Dataset: llava_instruct_10k.json (10K random subset, seed=42)</a:t>
            </a:r>
          </a:p>
          <a:p>
            <a:pPr lvl="1">
              <a:spcAft>
                <a:spcPts val="400"/>
              </a:spcAft>
            </a:pPr>
            <a:r>
              <a:rPr sz="1400">
                <a:solidFill>
                  <a:srgbClr val="555555"/>
                </a:solidFill>
              </a:rPr>
              <a:t>    - Source: llava_instruct_150k.json + COCO 2014 train images</a:t>
            </a:r>
          </a:p>
          <a:p>
            <a:pPr lvl="1">
              <a:spcAft>
                <a:spcPts val="400"/>
              </a:spcAft>
            </a:pPr>
            <a:r>
              <a:rPr sz="1400">
                <a:solidFill>
                  <a:srgbClr val="555555"/>
                </a:solidFill>
              </a:rPr>
              <a:t>    - Subset chosen so each run finishes within ~1 hour</a:t>
            </a:r>
          </a:p>
          <a:p>
            <a:pPr>
              <a:spcAft>
                <a:spcPts val="400"/>
              </a:spcAft>
            </a:pPr>
            <a:r>
              <a:rPr sz="1600">
                <a:solidFill>
                  <a:srgbClr val="101010"/>
                </a:solidFill>
              </a:rPr>
              <a:t>- Trainable: LoRA adapters (r=128, α=256) + full MLP projection</a:t>
            </a:r>
          </a:p>
          <a:p>
            <a:pPr lvl="1">
              <a:spcAft>
                <a:spcPts val="400"/>
              </a:spcAft>
            </a:pPr>
            <a:r>
              <a:rPr sz="1400">
                <a:solidFill>
                  <a:srgbClr val="555555"/>
                </a:solidFill>
              </a:rPr>
              <a:t>    - ≈4.6% of total params trainable; ~340 M of 7.4 B</a:t>
            </a:r>
          </a:p>
          <a:p>
            <a:pPr>
              <a:spcAft>
                <a:spcPts val="400"/>
              </a:spcAft>
            </a:pPr>
            <a:r>
              <a:rPr sz="1600">
                <a:solidFill>
                  <a:srgbClr val="101010"/>
                </a:solidFill>
              </a:rPr>
              <a:t>- Optimizer: AdamW; bf16; gradient checkpointing; cosine LR</a:t>
            </a:r>
          </a:p>
          <a:p>
            <a:pPr lvl="1">
              <a:spcAft>
                <a:spcPts val="400"/>
              </a:spcAft>
            </a:pPr>
            <a:r>
              <a:rPr sz="1400">
                <a:solidFill>
                  <a:srgbClr val="555555"/>
                </a:solidFill>
              </a:rPr>
              <a:t>    - LR=2e-4 (LoRA) / 5e-5 (ZeRO-3, FSDP), warmup 0.03 / 0.1</a:t>
            </a:r>
          </a:p>
          <a:p>
            <a:pPr>
              <a:spcAft>
                <a:spcPts val="400"/>
              </a:spcAft>
            </a:pPr>
            <a:r>
              <a:rPr sz="1600">
                <a:solidFill>
                  <a:srgbClr val="101010"/>
                </a:solidFill>
              </a:rPr>
              <a:t>- Effective batch sizes vary by method:</a:t>
            </a:r>
          </a:p>
          <a:p>
            <a:pPr lvl="1">
              <a:spcAft>
                <a:spcPts val="400"/>
              </a:spcAft>
            </a:pPr>
            <a:r>
              <a:rPr sz="1400">
                <a:solidFill>
                  <a:srgbClr val="555555"/>
                </a:solidFill>
              </a:rPr>
              <a:t>    - DDP / ZeRO-2: 32 (per_device=16, accum=1, world=2)</a:t>
            </a:r>
          </a:p>
          <a:p>
            <a:pPr lvl="1">
              <a:spcAft>
                <a:spcPts val="400"/>
              </a:spcAft>
            </a:pPr>
            <a:r>
              <a:rPr sz="1400">
                <a:solidFill>
                  <a:srgbClr val="555555"/>
                </a:solidFill>
              </a:rPr>
              <a:t>    - Pipeline: 16 (per_device=1, accum=16, world=2)</a:t>
            </a:r>
          </a:p>
          <a:p>
            <a:pPr lvl="1">
              <a:spcAft>
                <a:spcPts val="400"/>
              </a:spcAft>
            </a:pPr>
            <a:r>
              <a:rPr sz="1400">
                <a:solidFill>
                  <a:srgbClr val="555555"/>
                </a:solidFill>
              </a:rPr>
              <a:t>    - ZeRO-3 / FSDP: 8 (per_device=1, accum=4, world=2)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47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0">
                <a:solidFill>
                  <a:srgbClr val="101010"/>
                </a:solidFill>
              </a:rPr>
              <a:t>Strategies compared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600">
                <a:solidFill>
                  <a:srgbClr val="101010"/>
                </a:solidFill>
              </a:rPr>
              <a:t>- Single-GPU LoRA (no parallelism)</a:t>
            </a:r>
          </a:p>
          <a:p>
            <a:pPr lvl="1">
              <a:spcAft>
                <a:spcPts val="400"/>
              </a:spcAft>
            </a:pPr>
            <a:r>
              <a:rPr sz="1400">
                <a:solidFill>
                  <a:srgbClr val="555555"/>
                </a:solidFill>
              </a:rPr>
              <a:t>    - Reference: how slow is no parallelism?</a:t>
            </a:r>
          </a:p>
          <a:p>
            <a:pPr>
              <a:spcAft>
                <a:spcPts val="400"/>
              </a:spcAft>
            </a:pPr>
            <a:r>
              <a:rPr sz="1600">
                <a:solidFill>
                  <a:srgbClr val="101010"/>
                </a:solidFill>
              </a:rPr>
              <a:t>- DDP (DeepSpeed ZeRO-0) — naïve baseline</a:t>
            </a:r>
          </a:p>
          <a:p>
            <a:pPr lvl="1">
              <a:spcAft>
                <a:spcPts val="400"/>
              </a:spcAft>
            </a:pPr>
            <a:r>
              <a:rPr sz="1400">
                <a:solidFill>
                  <a:srgbClr val="555555"/>
                </a:solidFill>
              </a:rPr>
              <a:t>    - Replicate model on each GPU; AllReduce gradients</a:t>
            </a:r>
          </a:p>
          <a:p>
            <a:pPr>
              <a:spcAft>
                <a:spcPts val="400"/>
              </a:spcAft>
            </a:pPr>
            <a:r>
              <a:rPr sz="1600">
                <a:solidFill>
                  <a:srgbClr val="101010"/>
                </a:solidFill>
              </a:rPr>
              <a:t>- Pipeline parallelism — model parallelism family</a:t>
            </a:r>
          </a:p>
          <a:p>
            <a:pPr lvl="1">
              <a:spcAft>
                <a:spcPts val="400"/>
              </a:spcAft>
            </a:pPr>
            <a:r>
              <a:rPr sz="1400">
                <a:solidFill>
                  <a:srgbClr val="555555"/>
                </a:solidFill>
              </a:rPr>
              <a:t>    - Split decoder layers across 2 nodes (Gloo over Ethernet)</a:t>
            </a:r>
          </a:p>
          <a:p>
            <a:pPr lvl="1">
              <a:spcAft>
                <a:spcPts val="400"/>
              </a:spcAft>
            </a:pPr>
            <a:r>
              <a:rPr sz="1400">
                <a:solidFill>
                  <a:srgbClr val="555555"/>
                </a:solidFill>
              </a:rPr>
              <a:t>    - Owned by Youssef Ghallab</a:t>
            </a:r>
          </a:p>
          <a:p>
            <a:pPr>
              <a:spcAft>
                <a:spcPts val="400"/>
              </a:spcAft>
            </a:pPr>
            <a:r>
              <a:rPr sz="1600">
                <a:solidFill>
                  <a:srgbClr val="101010"/>
                </a:solidFill>
              </a:rPr>
              <a:t>- DeepSpeed ZeRO-2 — data parallelism w/ sharded optimizer + gradients</a:t>
            </a:r>
          </a:p>
          <a:p>
            <a:pPr lvl="1">
              <a:spcAft>
                <a:spcPts val="400"/>
              </a:spcAft>
            </a:pPr>
            <a:r>
              <a:rPr sz="1400">
                <a:solidFill>
                  <a:srgbClr val="555555"/>
                </a:solidFill>
              </a:rPr>
              <a:t>    - Owned by Omar Ahmed</a:t>
            </a:r>
          </a:p>
          <a:p>
            <a:pPr>
              <a:spcAft>
                <a:spcPts val="400"/>
              </a:spcAft>
            </a:pPr>
            <a:r>
              <a:rPr sz="1600">
                <a:solidFill>
                  <a:srgbClr val="101010"/>
                </a:solidFill>
              </a:rPr>
              <a:t>- DeepSpeed ZeRO-3 — data parallelism w/ sharded optimizer + grads + params</a:t>
            </a:r>
          </a:p>
          <a:p>
            <a:pPr lvl="1">
              <a:spcAft>
                <a:spcPts val="400"/>
              </a:spcAft>
            </a:pPr>
            <a:r>
              <a:rPr sz="1400">
                <a:solidFill>
                  <a:srgbClr val="555555"/>
                </a:solidFill>
              </a:rPr>
              <a:t>    - Owned by Rassul Magauin</a:t>
            </a:r>
          </a:p>
          <a:p>
            <a:pPr>
              <a:spcAft>
                <a:spcPts val="400"/>
              </a:spcAft>
            </a:pPr>
            <a:r>
              <a:rPr sz="1600">
                <a:solidFill>
                  <a:srgbClr val="101010"/>
                </a:solidFill>
              </a:rPr>
              <a:t>- PyTorch FSDP — PyTorch-native equivalent of ZeRO-3</a:t>
            </a:r>
          </a:p>
          <a:p>
            <a:pPr lvl="1">
              <a:spcAft>
                <a:spcPts val="400"/>
              </a:spcAft>
            </a:pPr>
            <a:r>
              <a:rPr sz="1400">
                <a:solidFill>
                  <a:srgbClr val="555555"/>
                </a:solidFill>
              </a:rPr>
              <a:t>    - Owned by Rassul Magauin</a:t>
            </a:r>
          </a:p>
          <a:p>
            <a:pPr>
              <a:spcAft>
                <a:spcPts val="400"/>
              </a:spcAft>
            </a:pPr>
            <a:r>
              <a:rPr sz="1600">
                <a:solidFill>
                  <a:srgbClr val="101010"/>
                </a:solidFill>
              </a:rPr>
              <a:t>- All multi-node runs use 2 ws-ia nodes × 1 GPU over Ethernet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47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0">
                <a:solidFill>
                  <a:srgbClr val="101010"/>
                </a:solidFill>
              </a:rPr>
              <a:t>Baseline: 1 GPU LoRA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600">
                <a:solidFill>
                  <a:srgbClr val="101010"/>
                </a:solidFill>
              </a:rPr>
              <a:t>- 1 RTX 5000 Ada (32 GB), no parallelism</a:t>
            </a:r>
          </a:p>
          <a:p>
            <a:pPr lvl="1">
              <a:spcAft>
                <a:spcPts val="400"/>
              </a:spcAft>
            </a:pPr>
            <a:r>
              <a:rPr sz="1400">
                <a:solidFill>
                  <a:srgbClr val="555555"/>
                </a:solidFill>
              </a:rPr>
              <a:t>    - per_device_batch=1, effective batch=1, 1 epoch over 10K</a:t>
            </a:r>
          </a:p>
          <a:p>
            <a:pPr lvl="1">
              <a:spcAft>
                <a:spcPts val="400"/>
              </a:spcAft>
            </a:pPr>
            <a:r>
              <a:rPr sz="1400">
                <a:solidFill>
                  <a:srgbClr val="555555"/>
                </a:solidFill>
              </a:rPr>
              <a:t>    - 10000 training steps, lr=2e-4, cosine schedule</a:t>
            </a:r>
          </a:p>
          <a:p>
            <a:pPr>
              <a:spcAft>
                <a:spcPts val="400"/>
              </a:spcAft>
            </a:pPr>
            <a:r>
              <a:rPr sz="1600">
                <a:solidFill>
                  <a:srgbClr val="101010"/>
                </a:solidFill>
              </a:rPr>
              <a:t>- Wall time: 96.0 min (5761 s)</a:t>
            </a:r>
          </a:p>
          <a:p>
            <a:pPr>
              <a:spcAft>
                <a:spcPts val="400"/>
              </a:spcAft>
            </a:pPr>
            <a:r>
              <a:rPr sz="1600">
                <a:solidFill>
                  <a:srgbClr val="101010"/>
                </a:solidFill>
              </a:rPr>
              <a:t>- Throughput: 1.74 samples/sec</a:t>
            </a:r>
          </a:p>
          <a:p>
            <a:pPr>
              <a:spcAft>
                <a:spcPts val="400"/>
              </a:spcAft>
            </a:pPr>
            <a:r>
              <a:rPr sz="1600">
                <a:solidFill>
                  <a:srgbClr val="101010"/>
                </a:solidFill>
              </a:rPr>
              <a:t>- Peak GPU memory: 25.7 GiB / 32 GiB (≈80%)</a:t>
            </a:r>
          </a:p>
          <a:p>
            <a:pPr>
              <a:spcAft>
                <a:spcPts val="400"/>
              </a:spcAft>
            </a:pPr>
            <a:r>
              <a:rPr sz="1600">
                <a:solidFill>
                  <a:srgbClr val="101010"/>
                </a:solidFill>
              </a:rPr>
              <a:t>- Average GPU utilization: only 11.4%</a:t>
            </a:r>
          </a:p>
          <a:p>
            <a:pPr lvl="1">
              <a:spcAft>
                <a:spcPts val="400"/>
              </a:spcAft>
            </a:pPr>
            <a:r>
              <a:rPr sz="1400">
                <a:solidFill>
                  <a:srgbClr val="555555"/>
                </a:solidFill>
              </a:rPr>
              <a:t>    - CPU-bound: dataloader_num_workers=0 + bf16 model loading</a:t>
            </a:r>
          </a:p>
          <a:p>
            <a:pPr lvl="1">
              <a:spcAft>
                <a:spcPts val="400"/>
              </a:spcAft>
            </a:pPr>
            <a:r>
              <a:rPr sz="1400">
                <a:solidFill>
                  <a:srgbClr val="555555"/>
                </a:solidFill>
              </a:rPr>
              <a:t>    - Most time in image preprocessing, not GPU compute</a:t>
            </a:r>
          </a:p>
          <a:p>
            <a:pPr>
              <a:spcAft>
                <a:spcPts val="400"/>
              </a:spcAft>
            </a:pPr>
            <a:r>
              <a:rPr sz="1600">
                <a:solidFill>
                  <a:srgbClr val="101010"/>
                </a:solidFill>
              </a:rPr>
              <a:t>- Final loss: 1.32 (avg 1.10 over the run)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47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0">
                <a:solidFill>
                  <a:srgbClr val="101010"/>
                </a:solidFill>
              </a:rPr>
              <a:t>Baseline 2: DDP (2 nodes × 1 GPU)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57607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600">
                <a:solidFill>
                  <a:srgbClr val="101010"/>
                </a:solidFill>
              </a:rPr>
              <a:t>- PyTorch DistributedDataParallel via torchrun --nnodes=2</a:t>
            </a:r>
          </a:p>
          <a:p>
            <a:pPr>
              <a:spcAft>
                <a:spcPts val="400"/>
              </a:spcAft>
            </a:pPr>
            <a:r>
              <a:rPr sz="1600">
                <a:solidFill>
                  <a:srgbClr val="101010"/>
                </a:solidFill>
              </a:rPr>
              <a:t>- DeepSpeed ZeRO Stage 0 (no sharding) — pure DP</a:t>
            </a:r>
          </a:p>
          <a:p>
            <a:pPr lvl="1">
              <a:spcAft>
                <a:spcPts val="400"/>
              </a:spcAft>
            </a:pPr>
            <a:r>
              <a:rPr sz="1400">
                <a:solidFill>
                  <a:srgbClr val="555555"/>
                </a:solidFill>
              </a:rPr>
              <a:t>    - Each rank holds full model; AllReduce LoRA grads only</a:t>
            </a:r>
          </a:p>
          <a:p>
            <a:pPr>
              <a:spcAft>
                <a:spcPts val="400"/>
              </a:spcAft>
            </a:pPr>
            <a:r>
              <a:rPr sz="1600">
                <a:solidFill>
                  <a:srgbClr val="101010"/>
                </a:solidFill>
              </a:rPr>
              <a:t>- per_device_batch=16, accum=1, effective batch=32</a:t>
            </a:r>
          </a:p>
          <a:p>
            <a:pPr lvl="1">
              <a:spcAft>
                <a:spcPts val="400"/>
              </a:spcAft>
            </a:pPr>
            <a:r>
              <a:rPr sz="1400">
                <a:solidFill>
                  <a:srgbClr val="555555"/>
                </a:solidFill>
              </a:rPr>
              <a:t>    - 313 training steps for 10K samples, 1 epoch</a:t>
            </a:r>
          </a:p>
          <a:p>
            <a:pPr>
              <a:spcAft>
                <a:spcPts val="400"/>
              </a:spcAft>
            </a:pPr>
            <a:r>
              <a:rPr sz="1600">
                <a:solidFill>
                  <a:srgbClr val="101010"/>
                </a:solidFill>
              </a:rPr>
              <a:t>- Wall time: 74.8 min (4491 s)</a:t>
            </a:r>
          </a:p>
          <a:p>
            <a:pPr>
              <a:spcAft>
                <a:spcPts val="400"/>
              </a:spcAft>
            </a:pPr>
            <a:r>
              <a:rPr sz="1600">
                <a:solidFill>
                  <a:srgbClr val="101010"/>
                </a:solidFill>
              </a:rPr>
              <a:t>- Throughput: 2.22 samples/sec</a:t>
            </a:r>
          </a:p>
          <a:p>
            <a:pPr lvl="1">
              <a:spcAft>
                <a:spcPts val="400"/>
              </a:spcAft>
            </a:pPr>
            <a:r>
              <a:rPr sz="1400">
                <a:solidFill>
                  <a:srgbClr val="555555"/>
                </a:solidFill>
              </a:rPr>
              <a:t>    - vs 1-GPU @ batch 1: ~1.28× per-sample, ~10× per-step</a:t>
            </a:r>
          </a:p>
          <a:p>
            <a:pPr>
              <a:spcAft>
                <a:spcPts val="400"/>
              </a:spcAft>
            </a:pPr>
            <a:r>
              <a:rPr sz="1600">
                <a:solidFill>
                  <a:srgbClr val="101010"/>
                </a:solidFill>
              </a:rPr>
              <a:t>- Peak GPU memory: 30.7 GiB</a:t>
            </a:r>
          </a:p>
          <a:p>
            <a:pPr>
              <a:spcAft>
                <a:spcPts val="400"/>
              </a:spcAft>
            </a:pPr>
            <a:r>
              <a:rPr sz="1600">
                <a:solidFill>
                  <a:srgbClr val="101010"/>
                </a:solidFill>
              </a:rPr>
              <a:t>- Average GPU utilization: 70.7%</a:t>
            </a:r>
          </a:p>
          <a:p>
            <a:pPr lvl="1">
              <a:spcAft>
                <a:spcPts val="400"/>
              </a:spcAft>
            </a:pPr>
            <a:r>
              <a:rPr sz="1400">
                <a:solidFill>
                  <a:srgbClr val="555555"/>
                </a:solidFill>
              </a:rPr>
              <a:t>    - Synchronization stalls on cross-node Ethernet visible</a:t>
            </a:r>
          </a:p>
          <a:p>
            <a:pPr>
              <a:spcAft>
                <a:spcPts val="400"/>
              </a:spcAft>
            </a:pPr>
            <a:r>
              <a:rPr sz="1600">
                <a:solidFill>
                  <a:srgbClr val="101010"/>
                </a:solidFill>
              </a:rPr>
              <a:t>- Final loss: 1.04 (avg 1.18)</a:t>
            </a:r>
          </a:p>
        </p:txBody>
      </p:sp>
      <p:pic>
        <p:nvPicPr>
          <p:cNvPr id="4" name="Picture 3" descr="loss_curv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0" y="1554480"/>
            <a:ext cx="5303520" cy="33147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47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0">
                <a:solidFill>
                  <a:srgbClr val="101010"/>
                </a:solidFill>
              </a:rPr>
              <a:t>DDP — GPU utilization &amp; memory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57607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600">
                <a:solidFill>
                  <a:srgbClr val="101010"/>
                </a:solidFill>
              </a:rPr>
              <a:t>- Both nodes track each other closely (DP is symmetric)</a:t>
            </a:r>
          </a:p>
          <a:p>
            <a:pPr>
              <a:spcAft>
                <a:spcPts val="400"/>
              </a:spcAft>
            </a:pPr>
            <a:r>
              <a:rPr sz="1600">
                <a:solidFill>
                  <a:srgbClr val="101010"/>
                </a:solidFill>
              </a:rPr>
              <a:t>- Util oscillates ~70% during compute, drops on AllReduce</a:t>
            </a:r>
          </a:p>
          <a:p>
            <a:pPr lvl="1">
              <a:spcAft>
                <a:spcPts val="400"/>
              </a:spcAft>
            </a:pPr>
            <a:r>
              <a:rPr sz="1400">
                <a:solidFill>
                  <a:srgbClr val="555555"/>
                </a:solidFill>
              </a:rPr>
              <a:t>    - Cross-node Ethernet AllReduce dominates the gap</a:t>
            </a:r>
          </a:p>
          <a:p>
            <a:pPr>
              <a:spcAft>
                <a:spcPts val="400"/>
              </a:spcAft>
            </a:pPr>
            <a:r>
              <a:rPr sz="1600">
                <a:solidFill>
                  <a:srgbClr val="101010"/>
                </a:solidFill>
              </a:rPr>
              <a:t>- Memory steady ~30 GiB after warmup</a:t>
            </a:r>
          </a:p>
        </p:txBody>
      </p:sp>
      <p:pic>
        <p:nvPicPr>
          <p:cNvPr id="4" name="Picture 3" descr="gpu_utilization_curv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0" y="1371600"/>
            <a:ext cx="5303520" cy="33147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926080"/>
            <a:ext cx="112471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800" b="0">
                <a:solidFill>
                  <a:srgbClr val="101010"/>
                </a:solidFill>
              </a:rPr>
              <a:t>Pipeline Parallelism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47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0">
                <a:solidFill>
                  <a:srgbClr val="101010"/>
                </a:solidFill>
              </a:rPr>
              <a:t>Pipeline Parallelism — implementation (Ghallab)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600">
                <a:solidFill>
                  <a:srgbClr val="101010"/>
                </a:solidFill>
              </a:rPr>
              <a:t>- Manual 2-stage pipeline, no torchgpipe / DeepSpeed-Pipeline</a:t>
            </a:r>
          </a:p>
          <a:p>
            <a:pPr lvl="1">
              <a:spcAft>
                <a:spcPts val="400"/>
              </a:spcAft>
            </a:pPr>
            <a:r>
              <a:rPr sz="1400">
                <a:solidFill>
                  <a:srgbClr val="555555"/>
                </a:solidFill>
              </a:rPr>
              <a:t>    - Custom loop in LLaVA/llava/train/train_pipe_dist.py (522 lines)</a:t>
            </a:r>
          </a:p>
          <a:p>
            <a:pPr lvl="1">
              <a:spcAft>
                <a:spcPts val="400"/>
              </a:spcAft>
            </a:pPr>
            <a:r>
              <a:rPr sz="1400">
                <a:solidFill>
                  <a:srgbClr val="555555"/>
                </a:solidFill>
              </a:rPr>
              <a:t>    - Gloo backend over Ethernet (NCCL had ordering issues with mixed dtypes)</a:t>
            </a:r>
          </a:p>
          <a:p>
            <a:pPr>
              <a:spcAft>
                <a:spcPts val="400"/>
              </a:spcAft>
            </a:pPr>
            <a:r>
              <a:rPr sz="1600">
                <a:solidFill>
                  <a:srgbClr val="101010"/>
                </a:solidFill>
              </a:rPr>
              <a:t>- Split point k = layer index in Vicuna-7B (32 decoder layers total)</a:t>
            </a:r>
          </a:p>
          <a:p>
            <a:pPr lvl="1">
              <a:spcAft>
                <a:spcPts val="400"/>
              </a:spcAft>
            </a:pPr>
            <a:r>
              <a:rPr sz="1400">
                <a:solidFill>
                  <a:srgbClr val="555555"/>
                </a:solidFill>
              </a:rPr>
              <a:t>    - Rank 0: vision tower (frozen) + projection + decoder layers 0..k-1</a:t>
            </a:r>
          </a:p>
          <a:p>
            <a:pPr lvl="1">
              <a:spcAft>
                <a:spcPts val="400"/>
              </a:spcAft>
            </a:pPr>
            <a:r>
              <a:rPr sz="1400">
                <a:solidFill>
                  <a:srgbClr val="555555"/>
                </a:solidFill>
              </a:rPr>
              <a:t>    - Rank 1: decoder layers k..31 + final norm + LM head + loss</a:t>
            </a:r>
          </a:p>
          <a:p>
            <a:pPr lvl="1">
              <a:spcAft>
                <a:spcPts val="400"/>
              </a:spcAft>
            </a:pPr>
            <a:r>
              <a:rPr sz="1400">
                <a:solidFill>
                  <a:srgbClr val="555555"/>
                </a:solidFill>
              </a:rPr>
              <a:t>    - Activations forward-passed and gradients backward-passed via dist send/recv</a:t>
            </a:r>
          </a:p>
          <a:p>
            <a:pPr>
              <a:spcAft>
                <a:spcPts val="400"/>
              </a:spcAft>
            </a:pPr>
            <a:r>
              <a:rPr sz="1600">
                <a:solidFill>
                  <a:srgbClr val="101010"/>
                </a:solidFill>
              </a:rPr>
              <a:t>- Microbatch + gradient accumulation: per_device=1, accum=16 → effective batch 16</a:t>
            </a:r>
          </a:p>
          <a:p>
            <a:pPr lvl="1">
              <a:spcAft>
                <a:spcPts val="400"/>
              </a:spcAft>
            </a:pPr>
            <a:r>
              <a:rPr sz="1400">
                <a:solidFill>
                  <a:srgbClr val="555555"/>
                </a:solidFill>
              </a:rPr>
              <a:t>    - num_micro_batches=1 (no inter-microbatch overlap, conservative)</a:t>
            </a:r>
          </a:p>
          <a:p>
            <a:pPr>
              <a:spcAft>
                <a:spcPts val="400"/>
              </a:spcAft>
            </a:pPr>
            <a:r>
              <a:rPr sz="1600">
                <a:solidFill>
                  <a:srgbClr val="101010"/>
                </a:solidFill>
              </a:rPr>
              <a:t>- LoRA adapters added on rank-local layers only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47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0">
                <a:solidFill>
                  <a:srgbClr val="101010"/>
                </a:solidFill>
              </a:rPr>
              <a:t>Pipeline — split balancing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600">
                <a:solidFill>
                  <a:srgbClr val="101010"/>
                </a:solidFill>
              </a:rPr>
              <a:t>- First attempt: split=16 (50/50 by layer count)</a:t>
            </a:r>
          </a:p>
          <a:p>
            <a:pPr lvl="1">
              <a:spcAft>
                <a:spcPts val="400"/>
              </a:spcAft>
            </a:pPr>
            <a:r>
              <a:rPr sz="1400">
                <a:solidFill>
                  <a:srgbClr val="555555"/>
                </a:solidFill>
              </a:rPr>
              <a:t>    - Rank 0 OOMed in first forward — vision+embeddings+layers 0..15 = 31.4 GiB</a:t>
            </a:r>
          </a:p>
          <a:p>
            <a:pPr lvl="1">
              <a:spcAft>
                <a:spcPts val="400"/>
              </a:spcAft>
            </a:pPr>
            <a:r>
              <a:rPr sz="1400">
                <a:solidFill>
                  <a:srgbClr val="555555"/>
                </a:solidFill>
              </a:rPr>
              <a:t>    - Vision tower + image features add a lot to rank 0's footprint</a:t>
            </a:r>
          </a:p>
          <a:p>
            <a:pPr>
              <a:spcAft>
                <a:spcPts val="400"/>
              </a:spcAft>
            </a:pPr>
            <a:r>
              <a:rPr sz="1600">
                <a:solidFill>
                  <a:srgbClr val="101010"/>
                </a:solidFill>
              </a:rPr>
              <a:t>- Second attempt: split=8 (shift work to rank 1)</a:t>
            </a:r>
          </a:p>
          <a:p>
            <a:pPr lvl="1">
              <a:spcAft>
                <a:spcPts val="400"/>
              </a:spcAft>
            </a:pPr>
            <a:r>
              <a:rPr sz="1400">
                <a:solidFill>
                  <a:srgbClr val="555555"/>
                </a:solidFill>
              </a:rPr>
              <a:t>    - Rank 1 OOMed — layers 8..31 + LM head = 31.0 GiB</a:t>
            </a:r>
          </a:p>
          <a:p>
            <a:pPr lvl="1">
              <a:spcAft>
                <a:spcPts val="400"/>
              </a:spcAft>
            </a:pPr>
            <a:r>
              <a:rPr sz="1400">
                <a:solidFill>
                  <a:srgbClr val="555555"/>
                </a:solidFill>
              </a:rPr>
              <a:t>    - LM head + final layers heavier than expected</a:t>
            </a:r>
          </a:p>
          <a:p>
            <a:pPr>
              <a:spcAft>
                <a:spcPts val="400"/>
              </a:spcAft>
            </a:pPr>
            <a:r>
              <a:rPr sz="1600">
                <a:solidFill>
                  <a:srgbClr val="101010"/>
                </a:solidFill>
              </a:rPr>
              <a:t>- Third attempt: split=12 + microbatch=1 + accum=16</a:t>
            </a:r>
          </a:p>
          <a:p>
            <a:pPr lvl="1">
              <a:spcAft>
                <a:spcPts val="400"/>
              </a:spcAft>
            </a:pPr>
            <a:r>
              <a:rPr sz="1400">
                <a:solidFill>
                  <a:srgbClr val="555555"/>
                </a:solidFill>
              </a:rPr>
              <a:t>    - Both ranks fit; rank 1 ≈ 31.4 GiB, rank 0 ≈ 28 GiB</a:t>
            </a:r>
          </a:p>
          <a:p>
            <a:pPr lvl="1">
              <a:spcAft>
                <a:spcPts val="400"/>
              </a:spcAft>
            </a:pPr>
            <a:r>
              <a:rPr sz="1400">
                <a:solidFill>
                  <a:srgbClr val="555555"/>
                </a:solidFill>
              </a:rPr>
              <a:t>    - Effective batch dropped from 16→16 (same), but per-step memory halved</a:t>
            </a:r>
          </a:p>
          <a:p>
            <a:pPr lvl="1">
              <a:spcAft>
                <a:spcPts val="400"/>
              </a:spcAft>
            </a:pPr>
            <a:r>
              <a:rPr sz="1400">
                <a:solidFill>
                  <a:srgbClr val="555555"/>
                </a:solidFill>
              </a:rPr>
              <a:t>    - Completed 625/625 steps</a:t>
            </a:r>
          </a:p>
          <a:p>
            <a:pPr>
              <a:spcAft>
                <a:spcPts val="400"/>
              </a:spcAft>
            </a:pPr>
            <a:r>
              <a:rPr sz="1600">
                <a:solidFill>
                  <a:srgbClr val="101010"/>
                </a:solidFill>
              </a:rPr>
              <a:t>- Lesson: layer count is not a good proxy for memory cost.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47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0">
                <a:solidFill>
                  <a:srgbClr val="101010"/>
                </a:solidFill>
              </a:rPr>
              <a:t>Pipeline — results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57607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600">
                <a:solidFill>
                  <a:srgbClr val="101010"/>
                </a:solidFill>
              </a:rPr>
              <a:t>- Wall time: 72.1 min (4325 s)</a:t>
            </a:r>
          </a:p>
          <a:p>
            <a:pPr lvl="1">
              <a:spcAft>
                <a:spcPts val="400"/>
              </a:spcAft>
            </a:pPr>
            <a:r>
              <a:rPr sz="1400">
                <a:solidFill>
                  <a:srgbClr val="555555"/>
                </a:solidFill>
              </a:rPr>
              <a:t>    - Training loop alone: 67.6 min (4058 s)</a:t>
            </a:r>
          </a:p>
          <a:p>
            <a:pPr>
              <a:spcAft>
                <a:spcPts val="400"/>
              </a:spcAft>
            </a:pPr>
            <a:r>
              <a:rPr sz="1600">
                <a:solidFill>
                  <a:srgbClr val="101010"/>
                </a:solidFill>
              </a:rPr>
              <a:t>- Throughput: 2.31 samples/sec (1.04× DDP — barely faster)</a:t>
            </a:r>
          </a:p>
          <a:p>
            <a:pPr>
              <a:spcAft>
                <a:spcPts val="400"/>
              </a:spcAft>
            </a:pPr>
            <a:r>
              <a:rPr sz="1600">
                <a:solidFill>
                  <a:srgbClr val="101010"/>
                </a:solidFill>
              </a:rPr>
              <a:t>- Effective batch 16 (vs DDP's 32) → fewer steps per epoch</a:t>
            </a:r>
          </a:p>
          <a:p>
            <a:pPr>
              <a:spcAft>
                <a:spcPts val="400"/>
              </a:spcAft>
            </a:pPr>
            <a:r>
              <a:rPr sz="1600">
                <a:solidFill>
                  <a:srgbClr val="101010"/>
                </a:solidFill>
              </a:rPr>
              <a:t>- Peak GPU memory: 31.4 GiB (rank 1)</a:t>
            </a:r>
          </a:p>
          <a:p>
            <a:pPr>
              <a:spcAft>
                <a:spcPts val="400"/>
              </a:spcAft>
            </a:pPr>
            <a:r>
              <a:rPr sz="1600">
                <a:solidFill>
                  <a:srgbClr val="101010"/>
                </a:solidFill>
              </a:rPr>
              <a:t>- Average GPU utilization:</a:t>
            </a:r>
          </a:p>
          <a:p>
            <a:pPr lvl="1">
              <a:spcAft>
                <a:spcPts val="400"/>
              </a:spcAft>
            </a:pPr>
            <a:r>
              <a:rPr sz="1400">
                <a:solidFill>
                  <a:srgbClr val="555555"/>
                </a:solidFill>
              </a:rPr>
              <a:t>    - Rank 0: 33.9%  ·  Rank 1: 56.1%</a:t>
            </a:r>
          </a:p>
          <a:p>
            <a:pPr lvl="1">
              <a:spcAft>
                <a:spcPts val="400"/>
              </a:spcAft>
            </a:pPr>
            <a:r>
              <a:rPr sz="1400">
                <a:solidFill>
                  <a:srgbClr val="555555"/>
                </a:solidFill>
              </a:rPr>
              <a:t>    - Big imbalance — rank 0 idle while rank 1 finishes its layers</a:t>
            </a:r>
          </a:p>
          <a:p>
            <a:pPr lvl="1">
              <a:spcAft>
                <a:spcPts val="400"/>
              </a:spcAft>
            </a:pPr>
            <a:r>
              <a:rPr sz="1400">
                <a:solidFill>
                  <a:srgbClr val="555555"/>
                </a:solidFill>
              </a:rPr>
              <a:t>    - Gloo is much slower than NCCL → comm overhead amplified</a:t>
            </a:r>
          </a:p>
          <a:p>
            <a:pPr>
              <a:spcAft>
                <a:spcPts val="400"/>
              </a:spcAft>
            </a:pPr>
            <a:r>
              <a:rPr sz="1600">
                <a:solidFill>
                  <a:srgbClr val="101010"/>
                </a:solidFill>
              </a:rPr>
              <a:t>- Final loss: 1.57 (higher than DDP because of smaller effective batch)</a:t>
            </a:r>
          </a:p>
          <a:p>
            <a:pPr>
              <a:spcAft>
                <a:spcPts val="400"/>
              </a:spcAft>
            </a:pPr>
            <a:r>
              <a:rPr sz="1600">
                <a:solidFill>
                  <a:srgbClr val="101010"/>
                </a:solidFill>
              </a:rPr>
              <a:t>- Key insight: pipeline can make a model fit, but on 1 Gbps Ethernet</a:t>
            </a:r>
          </a:p>
          <a:p>
            <a:pPr lvl="1">
              <a:spcAft>
                <a:spcPts val="400"/>
              </a:spcAft>
            </a:pPr>
            <a:r>
              <a:rPr sz="1400">
                <a:solidFill>
                  <a:srgbClr val="555555"/>
                </a:solidFill>
              </a:rPr>
              <a:t>    - activation/gradient transfers between stages dominate, killing speedup</a:t>
            </a:r>
          </a:p>
        </p:txBody>
      </p:sp>
      <p:pic>
        <p:nvPicPr>
          <p:cNvPr id="4" name="Picture 3" descr="gpu_utilization_curv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0" y="2286000"/>
            <a:ext cx="5120640" cy="32004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926080"/>
            <a:ext cx="112471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800" b="0">
                <a:solidFill>
                  <a:srgbClr val="101010"/>
                </a:solidFill>
              </a:rPr>
              <a:t>DeepSpeed ZeRO-2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47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0">
                <a:solidFill>
                  <a:srgbClr val="101010"/>
                </a:solidFill>
              </a:rPr>
              <a:t>ZeRO-2 — explanation (Omar)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600">
                <a:solidFill>
                  <a:srgbClr val="101010"/>
                </a:solidFill>
              </a:rPr>
              <a:t>- Family: ZeRO-DP (Zero Redundancy Optimizer Data Parallel)</a:t>
            </a:r>
          </a:p>
          <a:p>
            <a:pPr>
              <a:spcAft>
                <a:spcPts val="400"/>
              </a:spcAft>
            </a:pPr>
            <a:r>
              <a:rPr sz="1600">
                <a:solidFill>
                  <a:srgbClr val="101010"/>
                </a:solidFill>
              </a:rPr>
              <a:t>- Each rank still processes a different microbatch (data parallelism)</a:t>
            </a:r>
          </a:p>
          <a:p>
            <a:pPr>
              <a:spcAft>
                <a:spcPts val="400"/>
              </a:spcAft>
            </a:pPr>
            <a:r>
              <a:rPr sz="1600">
                <a:solidFill>
                  <a:srgbClr val="101010"/>
                </a:solidFill>
              </a:rPr>
              <a:t>- What's sharded across the 2 ranks:</a:t>
            </a:r>
          </a:p>
          <a:p>
            <a:pPr lvl="1">
              <a:spcAft>
                <a:spcPts val="400"/>
              </a:spcAft>
            </a:pPr>
            <a:r>
              <a:rPr sz="1400">
                <a:solidFill>
                  <a:srgbClr val="555555"/>
                </a:solidFill>
              </a:rPr>
              <a:t>    - Optimizer states (AdamW m, v) — sharded ✓</a:t>
            </a:r>
          </a:p>
          <a:p>
            <a:pPr lvl="1">
              <a:spcAft>
                <a:spcPts val="400"/>
              </a:spcAft>
            </a:pPr>
            <a:r>
              <a:rPr sz="1400">
                <a:solidFill>
                  <a:srgbClr val="555555"/>
                </a:solidFill>
              </a:rPr>
              <a:t>    - Gradients (after backward) — sharded ✓</a:t>
            </a:r>
          </a:p>
          <a:p>
            <a:pPr lvl="1">
              <a:spcAft>
                <a:spcPts val="400"/>
              </a:spcAft>
            </a:pPr>
            <a:r>
              <a:rPr sz="1400">
                <a:solidFill>
                  <a:srgbClr val="555555"/>
                </a:solidFill>
              </a:rPr>
              <a:t>    - Parameters (forward + backward weights) — replicated ✗</a:t>
            </a:r>
          </a:p>
          <a:p>
            <a:pPr>
              <a:spcAft>
                <a:spcPts val="400"/>
              </a:spcAft>
            </a:pPr>
            <a:r>
              <a:rPr sz="1600">
                <a:solidFill>
                  <a:srgbClr val="101010"/>
                </a:solidFill>
              </a:rPr>
              <a:t>- Communication pattern per step:</a:t>
            </a:r>
          </a:p>
          <a:p>
            <a:pPr lvl="1">
              <a:spcAft>
                <a:spcPts val="400"/>
              </a:spcAft>
            </a:pPr>
            <a:r>
              <a:rPr sz="1400">
                <a:solidFill>
                  <a:srgbClr val="555555"/>
                </a:solidFill>
              </a:rPr>
              <a:t>    - Backward: ReduceScatter gradients to owner-rank shards</a:t>
            </a:r>
          </a:p>
          <a:p>
            <a:pPr lvl="1">
              <a:spcAft>
                <a:spcPts val="400"/>
              </a:spcAft>
            </a:pPr>
            <a:r>
              <a:rPr sz="1400">
                <a:solidFill>
                  <a:srgbClr val="555555"/>
                </a:solidFill>
              </a:rPr>
              <a:t>    - Optimizer step: each rank updates its shard of params</a:t>
            </a:r>
          </a:p>
          <a:p>
            <a:pPr lvl="1">
              <a:spcAft>
                <a:spcPts val="400"/>
              </a:spcAft>
            </a:pPr>
            <a:r>
              <a:rPr sz="1400">
                <a:solidFill>
                  <a:srgbClr val="555555"/>
                </a:solidFill>
              </a:rPr>
              <a:t>    - AllGather updated params back to full set on each rank</a:t>
            </a:r>
          </a:p>
          <a:p>
            <a:pPr>
              <a:spcAft>
                <a:spcPts val="400"/>
              </a:spcAft>
            </a:pPr>
            <a:r>
              <a:rPr sz="1600">
                <a:solidFill>
                  <a:srgbClr val="101010"/>
                </a:solidFill>
              </a:rPr>
              <a:t>- Memory savings vs DDP:</a:t>
            </a:r>
          </a:p>
          <a:p>
            <a:pPr lvl="1">
              <a:spcAft>
                <a:spcPts val="400"/>
              </a:spcAft>
            </a:pPr>
            <a:r>
              <a:rPr sz="1400">
                <a:solidFill>
                  <a:srgbClr val="555555"/>
                </a:solidFill>
              </a:rPr>
              <a:t>    - Optimizer state for LoRA only ≈ a few hundred MB → little to shard</a:t>
            </a:r>
          </a:p>
          <a:p>
            <a:pPr lvl="1">
              <a:spcAft>
                <a:spcPts val="400"/>
              </a:spcAft>
            </a:pPr>
            <a:r>
              <a:rPr sz="1400">
                <a:solidFill>
                  <a:srgbClr val="555555"/>
                </a:solidFill>
              </a:rPr>
              <a:t>    - Real memory savings come from offloaded full-precision adam states</a:t>
            </a:r>
          </a:p>
          <a:p>
            <a:pPr>
              <a:spcAft>
                <a:spcPts val="400"/>
              </a:spcAft>
            </a:pPr>
            <a:r>
              <a:rPr sz="1600">
                <a:solidFill>
                  <a:srgbClr val="101010"/>
                </a:solidFill>
              </a:rPr>
              <a:t>- Config: configs/zero2.json, launcher: scripts/run_stage2_zero2_lora.sh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47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0">
                <a:solidFill>
                  <a:srgbClr val="101010"/>
                </a:solidFill>
              </a:rPr>
              <a:t>ZeRO-2 — results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57607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600">
                <a:solidFill>
                  <a:srgbClr val="101010"/>
                </a:solidFill>
              </a:rPr>
              <a:t>- Run: stage2_zero2_lora_20260424_134311 (effective batch 32)</a:t>
            </a:r>
          </a:p>
          <a:p>
            <a:pPr>
              <a:spcAft>
                <a:spcPts val="400"/>
              </a:spcAft>
            </a:pPr>
            <a:r>
              <a:rPr sz="1600">
                <a:solidFill>
                  <a:srgbClr val="101010"/>
                </a:solidFill>
              </a:rPr>
              <a:t>- Wall time: 58.4 min (3503 s)</a:t>
            </a:r>
          </a:p>
          <a:p>
            <a:pPr lvl="1">
              <a:spcAft>
                <a:spcPts val="400"/>
              </a:spcAft>
            </a:pPr>
            <a:r>
              <a:rPr sz="1400">
                <a:solidFill>
                  <a:srgbClr val="555555"/>
                </a:solidFill>
              </a:rPr>
              <a:t>    - vs DDP 74.8 min — saved 16.4 min, −22% wall-clock</a:t>
            </a:r>
          </a:p>
          <a:p>
            <a:pPr>
              <a:spcAft>
                <a:spcPts val="400"/>
              </a:spcAft>
            </a:pPr>
            <a:r>
              <a:rPr sz="1600">
                <a:solidFill>
                  <a:srgbClr val="101010"/>
                </a:solidFill>
              </a:rPr>
              <a:t>- Throughput: 2.85 samples/sec — 1.28× DDP</a:t>
            </a:r>
          </a:p>
          <a:p>
            <a:pPr>
              <a:spcAft>
                <a:spcPts val="400"/>
              </a:spcAft>
            </a:pPr>
            <a:r>
              <a:rPr sz="1600">
                <a:solidFill>
                  <a:srgbClr val="101010"/>
                </a:solidFill>
              </a:rPr>
              <a:t>- Peak GPU memory: 27.6 GiB (vs DDP 30.7 GiB) — saved 3.1 GiB</a:t>
            </a:r>
          </a:p>
          <a:p>
            <a:pPr>
              <a:spcAft>
                <a:spcPts val="400"/>
              </a:spcAft>
            </a:pPr>
            <a:r>
              <a:rPr sz="1600">
                <a:solidFill>
                  <a:srgbClr val="101010"/>
                </a:solidFill>
              </a:rPr>
              <a:t>- Average GPU utilization: 88.5% (vs DDP 70.7%)</a:t>
            </a:r>
          </a:p>
          <a:p>
            <a:pPr lvl="1">
              <a:spcAft>
                <a:spcPts val="400"/>
              </a:spcAft>
            </a:pPr>
            <a:r>
              <a:rPr sz="1400">
                <a:solidFill>
                  <a:srgbClr val="555555"/>
                </a:solidFill>
              </a:rPr>
              <a:t>    - DeepSpeed's bucketed async comm overlaps better than DDP</a:t>
            </a:r>
          </a:p>
          <a:p>
            <a:pPr lvl="1">
              <a:spcAft>
                <a:spcPts val="400"/>
              </a:spcAft>
            </a:pPr>
            <a:r>
              <a:rPr sz="1400">
                <a:solidFill>
                  <a:srgbClr val="555555"/>
                </a:solidFill>
              </a:rPr>
              <a:t>    - Better overlap fills the AllReduce-stall gap DDP suffered</a:t>
            </a:r>
          </a:p>
          <a:p>
            <a:pPr>
              <a:spcAft>
                <a:spcPts val="400"/>
              </a:spcAft>
            </a:pPr>
            <a:r>
              <a:rPr sz="1600">
                <a:solidFill>
                  <a:srgbClr val="101010"/>
                </a:solidFill>
              </a:rPr>
              <a:t>- Final loss: 1.11 (avg 1.22) — comparable to DDP</a:t>
            </a:r>
          </a:p>
          <a:p>
            <a:pPr>
              <a:spcAft>
                <a:spcPts val="400"/>
              </a:spcAft>
            </a:pPr>
            <a:r>
              <a:rPr sz="1600">
                <a:solidFill>
                  <a:srgbClr val="101010"/>
                </a:solidFill>
              </a:rPr>
              <a:t>- Why only 1.28× and not 2×?</a:t>
            </a:r>
          </a:p>
          <a:p>
            <a:pPr lvl="1">
              <a:spcAft>
                <a:spcPts val="400"/>
              </a:spcAft>
            </a:pPr>
            <a:r>
              <a:rPr sz="1400">
                <a:solidFill>
                  <a:srgbClr val="555555"/>
                </a:solidFill>
              </a:rPr>
              <a:t>    - LoRA's optimizer state is already tiny — sharding gains are small</a:t>
            </a:r>
          </a:p>
          <a:p>
            <a:pPr lvl="1">
              <a:spcAft>
                <a:spcPts val="400"/>
              </a:spcAft>
            </a:pPr>
            <a:r>
              <a:rPr sz="1400">
                <a:solidFill>
                  <a:srgbClr val="555555"/>
                </a:solidFill>
              </a:rPr>
              <a:t>    - Most of the win comes from DeepSpeed's overlap, not from sharding</a:t>
            </a:r>
          </a:p>
          <a:p>
            <a:pPr>
              <a:spcAft>
                <a:spcPts val="400"/>
              </a:spcAft>
            </a:pPr>
            <a:r>
              <a:rPr sz="1600">
                <a:solidFill>
                  <a:srgbClr val="101010"/>
                </a:solidFill>
              </a:rPr>
              <a:t>- ZeRO-2 = the only method that beats DDP on this workload.</a:t>
            </a:r>
          </a:p>
        </p:txBody>
      </p:sp>
      <p:pic>
        <p:nvPicPr>
          <p:cNvPr id="4" name="Picture 3" descr="gpu_utilization_curv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0" y="1828800"/>
            <a:ext cx="5120640" cy="320040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926080"/>
            <a:ext cx="112471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800" b="0">
                <a:solidFill>
                  <a:srgbClr val="101010"/>
                </a:solidFill>
              </a:rPr>
              <a:t>DeepSpeed ZeRO-3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47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0">
                <a:solidFill>
                  <a:srgbClr val="101010"/>
                </a:solidFill>
              </a:rPr>
              <a:t>ZeRO-3 — explanation (Rassul)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600">
                <a:solidFill>
                  <a:srgbClr val="101010"/>
                </a:solidFill>
              </a:rPr>
              <a:t>- Family: ZeRO-DP — same data-parallel semantics as ZeRO-2</a:t>
            </a:r>
          </a:p>
          <a:p>
            <a:pPr>
              <a:spcAft>
                <a:spcPts val="400"/>
              </a:spcAft>
            </a:pPr>
            <a:r>
              <a:rPr sz="1600">
                <a:solidFill>
                  <a:srgbClr val="101010"/>
                </a:solidFill>
              </a:rPr>
              <a:t>- What's sharded:</a:t>
            </a:r>
          </a:p>
          <a:p>
            <a:pPr lvl="1">
              <a:spcAft>
                <a:spcPts val="400"/>
              </a:spcAft>
            </a:pPr>
            <a:r>
              <a:rPr sz="1400">
                <a:solidFill>
                  <a:srgbClr val="555555"/>
                </a:solidFill>
              </a:rPr>
              <a:t>    - Optimizer states ✓</a:t>
            </a:r>
          </a:p>
          <a:p>
            <a:pPr lvl="1">
              <a:spcAft>
                <a:spcPts val="400"/>
              </a:spcAft>
            </a:pPr>
            <a:r>
              <a:rPr sz="1400">
                <a:solidFill>
                  <a:srgbClr val="555555"/>
                </a:solidFill>
              </a:rPr>
              <a:t>    - Gradients ✓</a:t>
            </a:r>
          </a:p>
          <a:p>
            <a:pPr lvl="1">
              <a:spcAft>
                <a:spcPts val="400"/>
              </a:spcAft>
            </a:pPr>
            <a:r>
              <a:rPr sz="1400">
                <a:solidFill>
                  <a:srgbClr val="555555"/>
                </a:solidFill>
              </a:rPr>
              <a:t>    - Parameters ✓ ← new vs ZeRO-2</a:t>
            </a:r>
          </a:p>
          <a:p>
            <a:pPr>
              <a:spcAft>
                <a:spcPts val="400"/>
              </a:spcAft>
            </a:pPr>
            <a:r>
              <a:rPr sz="1600">
                <a:solidFill>
                  <a:srgbClr val="101010"/>
                </a:solidFill>
              </a:rPr>
              <a:t>- Communication pattern per step (and per layer!):</a:t>
            </a:r>
          </a:p>
          <a:p>
            <a:pPr lvl="1">
              <a:spcAft>
                <a:spcPts val="400"/>
              </a:spcAft>
            </a:pPr>
            <a:r>
              <a:rPr sz="1400">
                <a:solidFill>
                  <a:srgbClr val="555555"/>
                </a:solidFill>
              </a:rPr>
              <a:t>    - Forward layer N: AllGather params for layer N → compute → drop</a:t>
            </a:r>
          </a:p>
          <a:p>
            <a:pPr lvl="1">
              <a:spcAft>
                <a:spcPts val="400"/>
              </a:spcAft>
            </a:pPr>
            <a:r>
              <a:rPr sz="1400">
                <a:solidFill>
                  <a:srgbClr val="555555"/>
                </a:solidFill>
              </a:rPr>
              <a:t>    - Backward layer N: AllGather params again → compute grads → drop</a:t>
            </a:r>
          </a:p>
          <a:p>
            <a:pPr lvl="1">
              <a:spcAft>
                <a:spcPts val="400"/>
              </a:spcAft>
            </a:pPr>
            <a:r>
              <a:rPr sz="1400">
                <a:solidFill>
                  <a:srgbClr val="555555"/>
                </a:solidFill>
              </a:rPr>
              <a:t>    - ReduceScatter gradients at end of backward</a:t>
            </a:r>
          </a:p>
          <a:p>
            <a:pPr>
              <a:spcAft>
                <a:spcPts val="400"/>
              </a:spcAft>
            </a:pPr>
            <a:r>
              <a:rPr sz="1600">
                <a:solidFill>
                  <a:srgbClr val="101010"/>
                </a:solidFill>
              </a:rPr>
              <a:t>- On 2 ranks the model is split in half (~7 GB sharded each)</a:t>
            </a:r>
          </a:p>
          <a:p>
            <a:pPr lvl="1">
              <a:spcAft>
                <a:spcPts val="400"/>
              </a:spcAft>
            </a:pPr>
            <a:r>
              <a:rPr sz="1400">
                <a:solidFill>
                  <a:srgbClr val="555555"/>
                </a:solidFill>
              </a:rPr>
              <a:t>    - But every layer requires re-materializing the full ≈430 MB to each rank</a:t>
            </a:r>
          </a:p>
          <a:p>
            <a:pPr>
              <a:spcAft>
                <a:spcPts val="400"/>
              </a:spcAft>
            </a:pPr>
            <a:r>
              <a:rPr sz="1600">
                <a:solidFill>
                  <a:srgbClr val="101010"/>
                </a:solidFill>
              </a:rPr>
              <a:t>- Math for our workload:</a:t>
            </a:r>
          </a:p>
          <a:p>
            <a:pPr lvl="1">
              <a:spcAft>
                <a:spcPts val="400"/>
              </a:spcAft>
            </a:pPr>
            <a:r>
              <a:rPr sz="1400">
                <a:solidFill>
                  <a:srgbClr val="555555"/>
                </a:solidFill>
              </a:rPr>
              <a:t>    - 32 transformer layers × 430 MB × 2 (fwd+bwd) ≈ 27.5 GB transferred per step</a:t>
            </a:r>
          </a:p>
          <a:p>
            <a:pPr lvl="1">
              <a:spcAft>
                <a:spcPts val="400"/>
              </a:spcAft>
            </a:pPr>
            <a:r>
              <a:rPr sz="1400">
                <a:solidFill>
                  <a:srgbClr val="555555"/>
                </a:solidFill>
              </a:rPr>
              <a:t>    - Over 1 Gbps Ethernet ≈ 4 minutes of comm per step alone</a:t>
            </a:r>
          </a:p>
          <a:p>
            <a:pPr>
              <a:spcAft>
                <a:spcPts val="400"/>
              </a:spcAft>
            </a:pPr>
            <a:r>
              <a:rPr sz="1600">
                <a:solidFill>
                  <a:srgbClr val="101010"/>
                </a:solidFill>
              </a:rPr>
              <a:t>- Config: configs/zero3.json + zero3_bounded_async.json (50 MB buckets)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47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0">
                <a:solidFill>
                  <a:srgbClr val="101010"/>
                </a:solidFill>
              </a:rPr>
              <a:t>ZeRO-3 — results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600">
                <a:solidFill>
                  <a:srgbClr val="101010"/>
                </a:solidFill>
              </a:rPr>
              <a:t>- Run: stage2_zero3_lora_20260420_041514/041515 (2 ranks)</a:t>
            </a:r>
          </a:p>
          <a:p>
            <a:pPr>
              <a:spcAft>
                <a:spcPts val="400"/>
              </a:spcAft>
            </a:pPr>
            <a:r>
              <a:rPr sz="1600">
                <a:solidFill>
                  <a:srgbClr val="101010"/>
                </a:solidFill>
              </a:rPr>
              <a:t>- Hit SLURM time limit before completion</a:t>
            </a:r>
          </a:p>
          <a:p>
            <a:pPr lvl="1">
              <a:spcAft>
                <a:spcPts val="400"/>
              </a:spcAft>
            </a:pPr>
            <a:r>
              <a:rPr sz="1400">
                <a:solidFill>
                  <a:srgbClr val="555555"/>
                </a:solidFill>
              </a:rPr>
              <a:t>    - Reached 292/1250 steps after 3 h 52 min</a:t>
            </a:r>
          </a:p>
          <a:p>
            <a:pPr lvl="1">
              <a:spcAft>
                <a:spcPts val="400"/>
              </a:spcAft>
            </a:pPr>
            <a:r>
              <a:rPr sz="1400">
                <a:solidFill>
                  <a:srgbClr val="555555"/>
                </a:solidFill>
              </a:rPr>
              <a:t>    - Each step ≈ 48 s; projected full wall time ≈ 16.5 h</a:t>
            </a:r>
          </a:p>
          <a:p>
            <a:pPr>
              <a:spcAft>
                <a:spcPts val="400"/>
              </a:spcAft>
            </a:pPr>
            <a:r>
              <a:rPr sz="1600">
                <a:solidFill>
                  <a:srgbClr val="101010"/>
                </a:solidFill>
              </a:rPr>
              <a:t>- Throughput: 0.17 samples/sec — 0.08× DDP (≈13× slower)</a:t>
            </a:r>
          </a:p>
          <a:p>
            <a:pPr>
              <a:spcAft>
                <a:spcPts val="400"/>
              </a:spcAft>
            </a:pPr>
            <a:r>
              <a:rPr sz="1600">
                <a:solidFill>
                  <a:srgbClr val="101010"/>
                </a:solidFill>
              </a:rPr>
              <a:t>- Effective batch 8 (per_device=1, accum=4)</a:t>
            </a:r>
          </a:p>
          <a:p>
            <a:pPr lvl="1">
              <a:spcAft>
                <a:spcPts val="400"/>
              </a:spcAft>
            </a:pPr>
            <a:r>
              <a:rPr sz="1400">
                <a:solidFill>
                  <a:srgbClr val="555555"/>
                </a:solidFill>
              </a:rPr>
              <a:t>    - Smaller batch chosen because GPU mem accounting is more conservative under ZeRO-3</a:t>
            </a:r>
          </a:p>
          <a:p>
            <a:pPr>
              <a:spcAft>
                <a:spcPts val="400"/>
              </a:spcAft>
            </a:pPr>
            <a:r>
              <a:rPr sz="1600">
                <a:solidFill>
                  <a:srgbClr val="101010"/>
                </a:solidFill>
              </a:rPr>
              <a:t>- Peak GPU memory: 22.0 GiB</a:t>
            </a:r>
          </a:p>
          <a:p>
            <a:pPr lvl="1">
              <a:spcAft>
                <a:spcPts val="400"/>
              </a:spcAft>
            </a:pPr>
            <a:r>
              <a:rPr sz="1400">
                <a:solidFill>
                  <a:srgbClr val="555555"/>
                </a:solidFill>
              </a:rPr>
              <a:t>    - Lower than DDP (30.7) — sharding does save memory</a:t>
            </a:r>
          </a:p>
          <a:p>
            <a:pPr lvl="1">
              <a:spcAft>
                <a:spcPts val="400"/>
              </a:spcAft>
            </a:pPr>
            <a:r>
              <a:rPr sz="1400">
                <a:solidFill>
                  <a:srgbClr val="555555"/>
                </a:solidFill>
              </a:rPr>
              <a:t>    - But the memory wasn't the bottleneck; comm was</a:t>
            </a:r>
          </a:p>
          <a:p>
            <a:pPr>
              <a:spcAft>
                <a:spcPts val="400"/>
              </a:spcAft>
            </a:pPr>
            <a:r>
              <a:rPr sz="1600">
                <a:solidFill>
                  <a:srgbClr val="101010"/>
                </a:solidFill>
              </a:rPr>
              <a:t>- Average GPU utilization: 99.2%</a:t>
            </a:r>
          </a:p>
          <a:p>
            <a:pPr lvl="1">
              <a:spcAft>
                <a:spcPts val="400"/>
              </a:spcAft>
            </a:pPr>
            <a:r>
              <a:rPr sz="1400">
                <a:solidFill>
                  <a:srgbClr val="555555"/>
                </a:solidFill>
              </a:rPr>
              <a:t>    - Counter-intuitive: 99% util but slowest — DeepSpeed pipelines overlap</a:t>
            </a:r>
          </a:p>
          <a:p>
            <a:pPr lvl="1">
              <a:spcAft>
                <a:spcPts val="400"/>
              </a:spcAft>
            </a:pPr>
            <a:r>
              <a:rPr sz="1400">
                <a:solidFill>
                  <a:srgbClr val="555555"/>
                </a:solidFill>
              </a:rPr>
              <a:t>    - comm with compute, so 'utilized' time includes waiting on AllGather</a:t>
            </a:r>
          </a:p>
          <a:p>
            <a:pPr>
              <a:spcAft>
                <a:spcPts val="400"/>
              </a:spcAft>
            </a:pPr>
            <a:r>
              <a:rPr sz="1600">
                <a:solidFill>
                  <a:srgbClr val="101010"/>
                </a:solidFill>
              </a:rPr>
              <a:t>- Last logged loss: 1.31 — convergence direction OK, just too slow</a:t>
            </a:r>
          </a:p>
          <a:p>
            <a:pPr>
              <a:spcAft>
                <a:spcPts val="400"/>
              </a:spcAft>
            </a:pPr>
            <a:r>
              <a:rPr sz="1600">
                <a:solidFill>
                  <a:srgbClr val="101010"/>
                </a:solidFill>
              </a:rPr>
              <a:t>- Diagnosis: per-layer cross-node AllGather is the bottleneck.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926080"/>
            <a:ext cx="112471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800" b="0">
                <a:solidFill>
                  <a:srgbClr val="101010"/>
                </a:solidFill>
              </a:rPr>
              <a:t>PyTorch FSDP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47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0">
                <a:solidFill>
                  <a:srgbClr val="101010"/>
                </a:solidFill>
              </a:rPr>
              <a:t>PyTorch FSDP — explanation (Rassul)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600">
                <a:solidFill>
                  <a:srgbClr val="101010"/>
                </a:solidFill>
              </a:rPr>
              <a:t>- PyTorch-native equivalent of DeepSpeed ZeRO-3</a:t>
            </a:r>
          </a:p>
          <a:p>
            <a:pPr lvl="1">
              <a:spcAft>
                <a:spcPts val="400"/>
              </a:spcAft>
            </a:pPr>
            <a:r>
              <a:rPr sz="1400">
                <a:solidFill>
                  <a:srgbClr val="555555"/>
                </a:solidFill>
              </a:rPr>
              <a:t>    - Same algorithm: shard params + grads + optim across DP ranks</a:t>
            </a:r>
          </a:p>
          <a:p>
            <a:pPr lvl="1">
              <a:spcAft>
                <a:spcPts val="400"/>
              </a:spcAft>
            </a:pPr>
            <a:r>
              <a:rPr sz="1400">
                <a:solidFill>
                  <a:srgbClr val="555555"/>
                </a:solidFill>
              </a:rPr>
              <a:t>    - Different implementation: PyTorch core, not DeepSpeed</a:t>
            </a:r>
          </a:p>
          <a:p>
            <a:pPr>
              <a:spcAft>
                <a:spcPts val="400"/>
              </a:spcAft>
            </a:pPr>
            <a:r>
              <a:rPr sz="1600">
                <a:solidFill>
                  <a:srgbClr val="101010"/>
                </a:solidFill>
              </a:rPr>
              <a:t>- Different design choices vs ZeRO-3:</a:t>
            </a:r>
          </a:p>
          <a:p>
            <a:pPr lvl="1">
              <a:spcAft>
                <a:spcPts val="400"/>
              </a:spcAft>
            </a:pPr>
            <a:r>
              <a:rPr sz="1400">
                <a:solidFill>
                  <a:srgbClr val="555555"/>
                </a:solidFill>
              </a:rPr>
              <a:t>    - FSDP wraps each transformer block as its own FSDP unit (FlatParameter)</a:t>
            </a:r>
          </a:p>
          <a:p>
            <a:pPr lvl="1">
              <a:spcAft>
                <a:spcPts val="400"/>
              </a:spcAft>
            </a:pPr>
            <a:r>
              <a:rPr sz="1400">
                <a:solidFill>
                  <a:srgbClr val="555555"/>
                </a:solidFill>
              </a:rPr>
              <a:t>    - AllGather happens at unit boundary, not per-tensor</a:t>
            </a:r>
          </a:p>
          <a:p>
            <a:pPr lvl="1">
              <a:spcAft>
                <a:spcPts val="400"/>
              </a:spcAft>
            </a:pPr>
            <a:r>
              <a:rPr sz="1400">
                <a:solidFill>
                  <a:srgbClr val="555555"/>
                </a:solidFill>
              </a:rPr>
              <a:t>    - Mixed precision policy is explicit (we used bf16)</a:t>
            </a:r>
          </a:p>
          <a:p>
            <a:pPr>
              <a:spcAft>
                <a:spcPts val="400"/>
              </a:spcAft>
            </a:pPr>
            <a:r>
              <a:rPr sz="1600">
                <a:solidFill>
                  <a:srgbClr val="101010"/>
                </a:solidFill>
              </a:rPr>
              <a:t>- Config: configs/fsdp.json</a:t>
            </a:r>
          </a:p>
          <a:p>
            <a:pPr lvl="1">
              <a:spcAft>
                <a:spcPts val="400"/>
              </a:spcAft>
            </a:pPr>
            <a:r>
              <a:rPr sz="1400">
                <a:solidFill>
                  <a:srgbClr val="555555"/>
                </a:solidFill>
              </a:rPr>
              <a:t>    - auto_wrap_policy=TRANSFORMER_BASED_WRAP, wrap LlamaDecoderLayer</a:t>
            </a:r>
          </a:p>
          <a:p>
            <a:pPr lvl="1">
              <a:spcAft>
                <a:spcPts val="400"/>
              </a:spcAft>
            </a:pPr>
            <a:r>
              <a:rPr sz="1400">
                <a:solidFill>
                  <a:srgbClr val="555555"/>
                </a:solidFill>
              </a:rPr>
              <a:t>    - use_orig_params=True (required for LoRA non-uniform requires_grad)</a:t>
            </a:r>
          </a:p>
          <a:p>
            <a:pPr lvl="1">
              <a:spcAft>
                <a:spcPts val="400"/>
              </a:spcAft>
            </a:pPr>
            <a:r>
              <a:rPr sz="1400">
                <a:solidFill>
                  <a:srgbClr val="555555"/>
                </a:solidFill>
              </a:rPr>
              <a:t>    - cpu_ram_efficient_loading=true (only rank 0 holds full CPU state at load)</a:t>
            </a:r>
          </a:p>
          <a:p>
            <a:pPr>
              <a:spcAft>
                <a:spcPts val="400"/>
              </a:spcAft>
            </a:pPr>
            <a:r>
              <a:rPr sz="1600">
                <a:solidFill>
                  <a:srgbClr val="101010"/>
                </a:solidFill>
              </a:rPr>
              <a:t>- Two LLaVA bugs we had to patch:</a:t>
            </a:r>
          </a:p>
          <a:p>
            <a:pPr lvl="1">
              <a:spcAft>
                <a:spcPts val="400"/>
              </a:spcAft>
            </a:pPr>
            <a:r>
              <a:rPr sz="1400">
                <a:solidFill>
                  <a:srgbClr val="555555"/>
                </a:solidFill>
              </a:rPr>
              <a:t>    - vision_tower[0] fails when loaded from a vendored checkpoint (not a list)</a:t>
            </a:r>
          </a:p>
          <a:p>
            <a:pPr lvl="1">
              <a:spcAft>
                <a:spcPts val="400"/>
              </a:spcAft>
            </a:pPr>
            <a:r>
              <a:rPr sz="1400">
                <a:solidFill>
                  <a:srgbClr val="555555"/>
                </a:solidFill>
              </a:rPr>
              <a:t>    - LoRA adapters created in fp32 after model.to(bf16) → cast LoRA to bf16 too</a:t>
            </a:r>
          </a:p>
          <a:p>
            <a:pPr>
              <a:spcAft>
                <a:spcPts val="400"/>
              </a:spcAft>
            </a:pPr>
            <a:r>
              <a:rPr sz="1600">
                <a:solidFill>
                  <a:srgbClr val="101010"/>
                </a:solidFill>
              </a:rPr>
              <a:t>- Launcher: scripts/run_stage2_fsdp_lora.sh (mirrors run_stage2_zero3_lora.sh)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47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0">
                <a:solidFill>
                  <a:srgbClr val="101010"/>
                </a:solidFill>
              </a:rPr>
              <a:t>FSDP — results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57607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600">
                <a:solidFill>
                  <a:srgbClr val="101010"/>
                </a:solidFill>
              </a:rPr>
              <a:t>- Run: stage2_fsdp_lora_20260426_143948</a:t>
            </a:r>
          </a:p>
          <a:p>
            <a:pPr>
              <a:spcAft>
                <a:spcPts val="400"/>
              </a:spcAft>
            </a:pPr>
            <a:r>
              <a:rPr sz="1600">
                <a:solidFill>
                  <a:srgbClr val="101010"/>
                </a:solidFill>
              </a:rPr>
              <a:t>- Stopped early at step 28/1250 (matches the ZeRO-3 timeout pattern)</a:t>
            </a:r>
          </a:p>
          <a:p>
            <a:pPr>
              <a:spcAft>
                <a:spcPts val="400"/>
              </a:spcAft>
            </a:pPr>
            <a:r>
              <a:rPr sz="1600">
                <a:solidFill>
                  <a:srgbClr val="101010"/>
                </a:solidFill>
              </a:rPr>
              <a:t>- Wall time observed: 39 min (2350 s); per-step ≈ 80 s</a:t>
            </a:r>
          </a:p>
          <a:p>
            <a:pPr lvl="1">
              <a:spcAft>
                <a:spcPts val="400"/>
              </a:spcAft>
            </a:pPr>
            <a:r>
              <a:rPr sz="1400">
                <a:solidFill>
                  <a:srgbClr val="555555"/>
                </a:solidFill>
              </a:rPr>
              <a:t>    - Projected full wall time ≈ 27.9 h — even slower than ZeRO-3</a:t>
            </a:r>
          </a:p>
          <a:p>
            <a:pPr>
              <a:spcAft>
                <a:spcPts val="400"/>
              </a:spcAft>
            </a:pPr>
            <a:r>
              <a:rPr sz="1600">
                <a:solidFill>
                  <a:srgbClr val="101010"/>
                </a:solidFill>
              </a:rPr>
              <a:t>- Throughput: 0.095 samples/sec — 0.04× DDP, ≈22× slower</a:t>
            </a:r>
          </a:p>
          <a:p>
            <a:pPr lvl="1">
              <a:spcAft>
                <a:spcPts val="400"/>
              </a:spcAft>
            </a:pPr>
            <a:r>
              <a:rPr sz="1400">
                <a:solidFill>
                  <a:srgbClr val="555555"/>
                </a:solidFill>
              </a:rPr>
              <a:t>    - ≈1.7× slower than ZeRO-3 on the same workload, same hardware</a:t>
            </a:r>
          </a:p>
          <a:p>
            <a:pPr>
              <a:spcAft>
                <a:spcPts val="400"/>
              </a:spcAft>
            </a:pPr>
            <a:r>
              <a:rPr sz="1600">
                <a:solidFill>
                  <a:srgbClr val="101010"/>
                </a:solidFill>
              </a:rPr>
              <a:t>- Peak GPU memory: 32.3 GiB — basically saturating the 32 GiB card</a:t>
            </a:r>
          </a:p>
          <a:p>
            <a:pPr lvl="1">
              <a:spcAft>
                <a:spcPts val="400"/>
              </a:spcAft>
            </a:pPr>
            <a:r>
              <a:rPr sz="1400">
                <a:solidFill>
                  <a:srgbClr val="555555"/>
                </a:solidFill>
              </a:rPr>
              <a:t>    - FSDP's FlatParameter contiguous tensor is larger than DeepSpeed's bucket scheme</a:t>
            </a:r>
          </a:p>
          <a:p>
            <a:pPr>
              <a:spcAft>
                <a:spcPts val="400"/>
              </a:spcAft>
            </a:pPr>
            <a:r>
              <a:rPr sz="1600">
                <a:solidFill>
                  <a:srgbClr val="101010"/>
                </a:solidFill>
              </a:rPr>
              <a:t>- Average GPU utilization: 97.5%</a:t>
            </a:r>
          </a:p>
          <a:p>
            <a:pPr>
              <a:spcAft>
                <a:spcPts val="400"/>
              </a:spcAft>
            </a:pPr>
            <a:r>
              <a:rPr sz="1600">
                <a:solidFill>
                  <a:srgbClr val="101010"/>
                </a:solidFill>
              </a:rPr>
              <a:t>- Why even slower than ZeRO-3?</a:t>
            </a:r>
          </a:p>
          <a:p>
            <a:pPr lvl="1">
              <a:spcAft>
                <a:spcPts val="400"/>
              </a:spcAft>
            </a:pPr>
            <a:r>
              <a:rPr sz="1400">
                <a:solidFill>
                  <a:srgbClr val="555555"/>
                </a:solidFill>
              </a:rPr>
              <a:t>    - DeepSpeed ZeRO-3 with bounded async config (50 MB buckets) overlaps better</a:t>
            </a:r>
          </a:p>
          <a:p>
            <a:pPr lvl="1">
              <a:spcAft>
                <a:spcPts val="400"/>
              </a:spcAft>
            </a:pPr>
            <a:r>
              <a:rPr sz="1400">
                <a:solidFill>
                  <a:srgbClr val="555555"/>
                </a:solidFill>
              </a:rPr>
              <a:t>    - FSDP defaults: no forward_prefetch, no bucket tuning → strict serial gather</a:t>
            </a:r>
          </a:p>
          <a:p>
            <a:pPr lvl="1">
              <a:spcAft>
                <a:spcPts val="400"/>
              </a:spcAft>
            </a:pPr>
            <a:r>
              <a:rPr sz="1400">
                <a:solidFill>
                  <a:srgbClr val="555555"/>
                </a:solidFill>
              </a:rPr>
              <a:t>    - FSDP gathers per transformer block (~430 MB), DeepSpeed by 50 MB buckets</a:t>
            </a:r>
          </a:p>
          <a:p>
            <a:pPr>
              <a:spcAft>
                <a:spcPts val="400"/>
              </a:spcAft>
            </a:pPr>
            <a:r>
              <a:rPr sz="1600">
                <a:solidFill>
                  <a:srgbClr val="101010"/>
                </a:solidFill>
              </a:rPr>
              <a:t>- Same fundamental wall: 1 Gbps Ethernet AllGather of bf16 weights every layer.</a:t>
            </a:r>
          </a:p>
        </p:txBody>
      </p:sp>
      <p:pic>
        <p:nvPicPr>
          <p:cNvPr id="4" name="Picture 3" descr="gpu_utilization_curv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0" y="1371600"/>
            <a:ext cx="5120640" cy="3200400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926080"/>
            <a:ext cx="112471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800" b="0">
                <a:solidFill>
                  <a:srgbClr val="101010"/>
                </a:solidFill>
              </a:rPr>
              <a:t>Cross-method comparison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47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0">
                <a:solidFill>
                  <a:srgbClr val="101010"/>
                </a:solidFill>
              </a:rPr>
              <a:t>Throughput — samples/sec (log scale)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45720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600">
                <a:solidFill>
                  <a:srgbClr val="101010"/>
                </a:solidFill>
              </a:rPr>
              <a:t>- ZeRO-2: 2.85 sps — only method beating DDP</a:t>
            </a:r>
          </a:p>
          <a:p>
            <a:pPr>
              <a:spcAft>
                <a:spcPts val="400"/>
              </a:spcAft>
            </a:pPr>
            <a:r>
              <a:rPr sz="1600">
                <a:solidFill>
                  <a:srgbClr val="101010"/>
                </a:solidFill>
              </a:rPr>
              <a:t>- DDP:    2.22 sps — naïve baseline</a:t>
            </a:r>
          </a:p>
          <a:p>
            <a:pPr>
              <a:spcAft>
                <a:spcPts val="400"/>
              </a:spcAft>
            </a:pPr>
            <a:r>
              <a:rPr sz="1600">
                <a:solidFill>
                  <a:srgbClr val="101010"/>
                </a:solidFill>
              </a:rPr>
              <a:t>- Pipeline: 2.31 sps — barely above DDP</a:t>
            </a:r>
          </a:p>
          <a:p>
            <a:pPr>
              <a:spcAft>
                <a:spcPts val="400"/>
              </a:spcAft>
            </a:pPr>
            <a:r>
              <a:rPr sz="1600">
                <a:solidFill>
                  <a:srgbClr val="101010"/>
                </a:solidFill>
              </a:rPr>
              <a:t>- 1-GPU LoRA: 1.74 sps — surprisingly close to multi-GPU at batch 1</a:t>
            </a:r>
          </a:p>
          <a:p>
            <a:pPr>
              <a:spcAft>
                <a:spcPts val="400"/>
              </a:spcAft>
            </a:pPr>
            <a:r>
              <a:rPr sz="1600">
                <a:solidFill>
                  <a:srgbClr val="101010"/>
                </a:solidFill>
              </a:rPr>
              <a:t>- ZeRO-3: 0.17 sps — 13× slower (timed out)</a:t>
            </a:r>
          </a:p>
          <a:p>
            <a:pPr>
              <a:spcAft>
                <a:spcPts val="400"/>
              </a:spcAft>
            </a:pPr>
            <a:r>
              <a:rPr sz="1600">
                <a:solidFill>
                  <a:srgbClr val="101010"/>
                </a:solidFill>
              </a:rPr>
              <a:t>- FSDP:   0.095 sps — 22× slower (stopped early)</a:t>
            </a:r>
          </a:p>
        </p:txBody>
      </p:sp>
      <p:pic>
        <p:nvPicPr>
          <p:cNvPr id="4" name="Picture 3" descr="1_throughpu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0" y="1280160"/>
            <a:ext cx="6400800" cy="3600450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47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0">
                <a:solidFill>
                  <a:srgbClr val="101010"/>
                </a:solidFill>
              </a:rPr>
              <a:t>Speedup vs DDP baseline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45720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600">
                <a:solidFill>
                  <a:srgbClr val="101010"/>
                </a:solidFill>
              </a:rPr>
              <a:t>- DDP = 1.00× by definition</a:t>
            </a:r>
          </a:p>
          <a:p>
            <a:pPr>
              <a:spcAft>
                <a:spcPts val="400"/>
              </a:spcAft>
            </a:pPr>
            <a:r>
              <a:rPr sz="1600">
                <a:solidFill>
                  <a:srgbClr val="101010"/>
                </a:solidFill>
              </a:rPr>
              <a:t>- ZeRO-2: 1.28× — only winner</a:t>
            </a:r>
          </a:p>
          <a:p>
            <a:pPr>
              <a:spcAft>
                <a:spcPts val="400"/>
              </a:spcAft>
            </a:pPr>
            <a:r>
              <a:rPr sz="1600">
                <a:solidFill>
                  <a:srgbClr val="101010"/>
                </a:solidFill>
              </a:rPr>
              <a:t>- Pipeline: 1.04× — basically tied with DDP</a:t>
            </a:r>
          </a:p>
          <a:p>
            <a:pPr>
              <a:spcAft>
                <a:spcPts val="400"/>
              </a:spcAft>
            </a:pPr>
            <a:r>
              <a:rPr sz="1600">
                <a:solidFill>
                  <a:srgbClr val="101010"/>
                </a:solidFill>
              </a:rPr>
              <a:t>- 1-GPU LoRA: 0.78× — naïve scaling reference</a:t>
            </a:r>
          </a:p>
          <a:p>
            <a:pPr>
              <a:spcAft>
                <a:spcPts val="400"/>
              </a:spcAft>
            </a:pPr>
            <a:r>
              <a:rPr sz="1600">
                <a:solidFill>
                  <a:srgbClr val="101010"/>
                </a:solidFill>
              </a:rPr>
              <a:t>- ZeRO-3: 0.08× — 13× regression</a:t>
            </a:r>
          </a:p>
          <a:p>
            <a:pPr>
              <a:spcAft>
                <a:spcPts val="400"/>
              </a:spcAft>
            </a:pPr>
            <a:r>
              <a:rPr sz="1600">
                <a:solidFill>
                  <a:srgbClr val="101010"/>
                </a:solidFill>
              </a:rPr>
              <a:t>- FSDP: 0.04× — 22× regression</a:t>
            </a:r>
          </a:p>
          <a:p>
            <a:pPr>
              <a:spcAft>
                <a:spcPts val="400"/>
              </a:spcAft>
            </a:pPr>
            <a:r>
              <a:rPr sz="1600">
                <a:solidFill>
                  <a:srgbClr val="101010"/>
                </a:solidFill>
              </a:rPr>
              <a:t>- Pattern: DP variants that don't shard params win;</a:t>
            </a:r>
          </a:p>
          <a:p>
            <a:pPr lvl="1">
              <a:spcAft>
                <a:spcPts val="400"/>
              </a:spcAft>
            </a:pPr>
            <a:r>
              <a:rPr sz="1400">
                <a:solidFill>
                  <a:srgbClr val="555555"/>
                </a:solidFill>
              </a:rPr>
              <a:t>    - methods that shard params lose to Ethernet overhead</a:t>
            </a:r>
          </a:p>
        </p:txBody>
      </p:sp>
      <p:pic>
        <p:nvPicPr>
          <p:cNvPr id="4" name="Picture 3" descr="3_speedup_vs_dd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0" y="1280160"/>
            <a:ext cx="6400800" cy="3600450"/>
          </a:xfrm>
          <a:prstGeom prst="rect">
            <a:avLst/>
          </a:prstGeom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47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0">
                <a:solidFill>
                  <a:srgbClr val="101010"/>
                </a:solidFill>
              </a:rPr>
              <a:t>Peak GPU memory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45720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600">
                <a:solidFill>
                  <a:srgbClr val="101010"/>
                </a:solidFill>
              </a:rPr>
              <a:t>- 32 GiB hardware limit (RTX 5000 Ada)</a:t>
            </a:r>
          </a:p>
          <a:p>
            <a:pPr>
              <a:spcAft>
                <a:spcPts val="400"/>
              </a:spcAft>
            </a:pPr>
            <a:r>
              <a:rPr sz="1600">
                <a:solidFill>
                  <a:srgbClr val="101010"/>
                </a:solidFill>
              </a:rPr>
              <a:t>- ZeRO-2: 27.6 GiB — best of the multi-GPU methods</a:t>
            </a:r>
          </a:p>
          <a:p>
            <a:pPr>
              <a:spcAft>
                <a:spcPts val="400"/>
              </a:spcAft>
            </a:pPr>
            <a:r>
              <a:rPr sz="1600">
                <a:solidFill>
                  <a:srgbClr val="101010"/>
                </a:solidFill>
              </a:rPr>
              <a:t>- DDP: 30.7 GiB</a:t>
            </a:r>
          </a:p>
          <a:p>
            <a:pPr>
              <a:spcAft>
                <a:spcPts val="400"/>
              </a:spcAft>
            </a:pPr>
            <a:r>
              <a:rPr sz="1600">
                <a:solidFill>
                  <a:srgbClr val="101010"/>
                </a:solidFill>
              </a:rPr>
              <a:t>- Pipeline (k=12): 31.4 GiB — heavier rank near the limit</a:t>
            </a:r>
          </a:p>
          <a:p>
            <a:pPr>
              <a:spcAft>
                <a:spcPts val="400"/>
              </a:spcAft>
            </a:pPr>
            <a:r>
              <a:rPr sz="1600">
                <a:solidFill>
                  <a:srgbClr val="101010"/>
                </a:solidFill>
              </a:rPr>
              <a:t>- FSDP: 32.3 GiB — saturated; FlatParameter overhead</a:t>
            </a:r>
          </a:p>
          <a:p>
            <a:pPr>
              <a:spcAft>
                <a:spcPts val="400"/>
              </a:spcAft>
            </a:pPr>
            <a:r>
              <a:rPr sz="1600">
                <a:solidFill>
                  <a:srgbClr val="101010"/>
                </a:solidFill>
              </a:rPr>
              <a:t>- ZeRO-3: 22.0 GiB — actual sharding visible (but at huge speed cost)</a:t>
            </a:r>
          </a:p>
          <a:p>
            <a:pPr>
              <a:spcAft>
                <a:spcPts val="400"/>
              </a:spcAft>
            </a:pPr>
            <a:r>
              <a:rPr sz="1600">
                <a:solidFill>
                  <a:srgbClr val="101010"/>
                </a:solidFill>
              </a:rPr>
              <a:t>- 1-GPU LoRA: 25.7 GiB — fits comfortably without parallelism</a:t>
            </a:r>
          </a:p>
        </p:txBody>
      </p:sp>
      <p:pic>
        <p:nvPicPr>
          <p:cNvPr id="4" name="Picture 3" descr="4_gpu_memor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0" y="1280160"/>
            <a:ext cx="6400800" cy="3600450"/>
          </a:xfrm>
          <a:prstGeom prst="rect">
            <a:avLst/>
          </a:prstGeom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47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0">
                <a:solidFill>
                  <a:srgbClr val="101010"/>
                </a:solidFill>
              </a:rPr>
              <a:t>Goodput — useful learning per cost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45720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600">
                <a:solidFill>
                  <a:srgbClr val="101010"/>
                </a:solidFill>
              </a:rPr>
              <a:t>- Loss reduction per wall-clock second:</a:t>
            </a:r>
          </a:p>
          <a:p>
            <a:pPr lvl="1">
              <a:spcAft>
                <a:spcPts val="400"/>
              </a:spcAft>
            </a:pPr>
            <a:r>
              <a:rPr sz="1400">
                <a:solidFill>
                  <a:srgbClr val="555555"/>
                </a:solidFill>
              </a:rPr>
              <a:t>    - ZeRO-2: 0.000372  ← best</a:t>
            </a:r>
          </a:p>
          <a:p>
            <a:pPr lvl="1">
              <a:spcAft>
                <a:spcPts val="400"/>
              </a:spcAft>
            </a:pPr>
            <a:r>
              <a:rPr sz="1400">
                <a:solidFill>
                  <a:srgbClr val="555555"/>
                </a:solidFill>
              </a:rPr>
              <a:t>    - DDP: 0.000313</a:t>
            </a:r>
          </a:p>
          <a:p>
            <a:pPr lvl="1">
              <a:spcAft>
                <a:spcPts val="400"/>
              </a:spcAft>
            </a:pPr>
            <a:r>
              <a:rPr sz="1400">
                <a:solidFill>
                  <a:srgbClr val="555555"/>
                </a:solidFill>
              </a:rPr>
              <a:t>    - ZeRO-3: 0.000294 (still positive — converging, just slowly)</a:t>
            </a:r>
          </a:p>
          <a:p>
            <a:pPr lvl="1">
              <a:spcAft>
                <a:spcPts val="400"/>
              </a:spcAft>
            </a:pPr>
            <a:r>
              <a:rPr sz="1400">
                <a:solidFill>
                  <a:srgbClr val="555555"/>
                </a:solidFill>
              </a:rPr>
              <a:t>    - Pipeline: 0.000239</a:t>
            </a:r>
          </a:p>
          <a:p>
            <a:pPr lvl="1">
              <a:spcAft>
                <a:spcPts val="400"/>
              </a:spcAft>
            </a:pPr>
            <a:r>
              <a:rPr sz="1400">
                <a:solidFill>
                  <a:srgbClr val="555555"/>
                </a:solidFill>
              </a:rPr>
              <a:t>    - FSDP: −0.000056 (only 28 steps; started from already-tuned ckpt)</a:t>
            </a:r>
          </a:p>
          <a:p>
            <a:pPr>
              <a:spcAft>
                <a:spcPts val="400"/>
              </a:spcAft>
            </a:pPr>
            <a:r>
              <a:rPr sz="1600">
                <a:solidFill>
                  <a:srgbClr val="101010"/>
                </a:solidFill>
              </a:rPr>
              <a:t>- Loss reduction per training sample (statistical efficiency):</a:t>
            </a:r>
          </a:p>
          <a:p>
            <a:pPr lvl="1">
              <a:spcAft>
                <a:spcPts val="400"/>
              </a:spcAft>
            </a:pPr>
            <a:r>
              <a:rPr sz="1400">
                <a:solidFill>
                  <a:srgbClr val="555555"/>
                </a:solidFill>
              </a:rPr>
              <a:t>    - DDP: 0.0045 ← best per-sample (effective batch 32)</a:t>
            </a:r>
          </a:p>
          <a:p>
            <a:pPr lvl="1">
              <a:spcAft>
                <a:spcPts val="400"/>
              </a:spcAft>
            </a:pPr>
            <a:r>
              <a:rPr sz="1400">
                <a:solidFill>
                  <a:srgbClr val="555555"/>
                </a:solidFill>
              </a:rPr>
              <a:t>    - ZeRO-2: 0.0042 (also batch 32)</a:t>
            </a:r>
          </a:p>
          <a:p>
            <a:pPr lvl="1">
              <a:spcAft>
                <a:spcPts val="400"/>
              </a:spcAft>
            </a:pPr>
            <a:r>
              <a:rPr sz="1400">
                <a:solidFill>
                  <a:srgbClr val="555555"/>
                </a:solidFill>
              </a:rPr>
              <a:t>    - ZeRO-3 / Pipeline: ~0.0017 (smaller effective batch hurts)</a:t>
            </a:r>
          </a:p>
          <a:p>
            <a:pPr>
              <a:spcAft>
                <a:spcPts val="400"/>
              </a:spcAft>
            </a:pPr>
            <a:r>
              <a:rPr sz="1600">
                <a:solidFill>
                  <a:srgbClr val="101010"/>
                </a:solidFill>
              </a:rPr>
              <a:t>- Wall-clock goodput tracks what slides actually want.</a:t>
            </a:r>
          </a:p>
        </p:txBody>
      </p:sp>
      <p:pic>
        <p:nvPicPr>
          <p:cNvPr id="4" name="Picture 3" descr="9_goodpu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0" y="1463040"/>
            <a:ext cx="6400800" cy="2057400"/>
          </a:xfrm>
          <a:prstGeom prst="rect">
            <a:avLst/>
          </a:prstGeom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47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0">
                <a:solidFill>
                  <a:srgbClr val="101010"/>
                </a:solidFill>
              </a:rPr>
              <a:t>Loss vs step (smoothed)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45720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600">
                <a:solidFill>
                  <a:srgbClr val="101010"/>
                </a:solidFill>
              </a:rPr>
              <a:t>- 1-GPU LoRA: gray, 10000 steps, slowly converging to ~1.0</a:t>
            </a:r>
          </a:p>
          <a:p>
            <a:pPr>
              <a:spcAft>
                <a:spcPts val="400"/>
              </a:spcAft>
            </a:pPr>
            <a:r>
              <a:rPr sz="1600">
                <a:solidFill>
                  <a:srgbClr val="101010"/>
                </a:solidFill>
              </a:rPr>
              <a:t>- DDP / ZeRO-2: ~313 steps each, converge to ~1.04 / 1.11</a:t>
            </a:r>
          </a:p>
          <a:p>
            <a:pPr>
              <a:spcAft>
                <a:spcPts val="400"/>
              </a:spcAft>
            </a:pPr>
            <a:r>
              <a:rPr sz="1600">
                <a:solidFill>
                  <a:srgbClr val="101010"/>
                </a:solidFill>
              </a:rPr>
              <a:t>- Pipeline: 625 steps, slightly higher final loss (smaller batch)</a:t>
            </a:r>
          </a:p>
          <a:p>
            <a:pPr>
              <a:spcAft>
                <a:spcPts val="400"/>
              </a:spcAft>
            </a:pPr>
            <a:r>
              <a:rPr sz="1600">
                <a:solidFill>
                  <a:srgbClr val="101010"/>
                </a:solidFill>
              </a:rPr>
              <a:t>- ZeRO-3: dashed red, only 292 steps reached, last loss 1.31</a:t>
            </a:r>
          </a:p>
          <a:p>
            <a:pPr>
              <a:spcAft>
                <a:spcPts val="400"/>
              </a:spcAft>
            </a:pPr>
            <a:r>
              <a:rPr sz="1600">
                <a:solidFill>
                  <a:srgbClr val="101010"/>
                </a:solidFill>
              </a:rPr>
              <a:t>- FSDP: dashed purple, 28 steps, started from pretrained ckpt</a:t>
            </a:r>
          </a:p>
          <a:p>
            <a:pPr>
              <a:spcAft>
                <a:spcPts val="400"/>
              </a:spcAft>
            </a:pPr>
            <a:r>
              <a:rPr sz="1600">
                <a:solidFill>
                  <a:srgbClr val="101010"/>
                </a:solidFill>
              </a:rPr>
              <a:t>- All methods that completed reach comparable loss</a:t>
            </a:r>
          </a:p>
          <a:p>
            <a:pPr lvl="1">
              <a:spcAft>
                <a:spcPts val="400"/>
              </a:spcAft>
            </a:pPr>
            <a:r>
              <a:rPr sz="1400">
                <a:solidFill>
                  <a:srgbClr val="555555"/>
                </a:solidFill>
              </a:rPr>
              <a:t>    - Statistical efficiency is similar; differences are wall-clock</a:t>
            </a:r>
          </a:p>
        </p:txBody>
      </p:sp>
      <p:pic>
        <p:nvPicPr>
          <p:cNvPr id="4" name="Picture 3" descr="6_loss_vs_ste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0" y="1280160"/>
            <a:ext cx="6400800" cy="3556000"/>
          </a:xfrm>
          <a:prstGeom prst="rect">
            <a:avLst/>
          </a:prstGeom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47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0">
                <a:solidFill>
                  <a:srgbClr val="101010"/>
                </a:solidFill>
              </a:rPr>
              <a:t>Key findings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600">
                <a:solidFill>
                  <a:srgbClr val="101010"/>
                </a:solidFill>
              </a:rPr>
              <a:t>- On 1 Gbps Ethernet with a 7B-LoRA workload:</a:t>
            </a:r>
          </a:p>
          <a:p>
            <a:pPr>
              <a:spcAft>
                <a:spcPts val="400"/>
              </a:spcAft>
            </a:pPr>
            <a:r>
              <a:rPr sz="1600">
                <a:solidFill>
                  <a:srgbClr val="101010"/>
                </a:solidFill>
              </a:rPr>
              <a:t>- 1. ZeRO-2 wins (1.28×) — sharding optimizer + grads, not params, is the sweet spot.</a:t>
            </a:r>
          </a:p>
          <a:p>
            <a:pPr lvl="1">
              <a:spcAft>
                <a:spcPts val="400"/>
              </a:spcAft>
            </a:pPr>
            <a:r>
              <a:rPr sz="1400">
                <a:solidFill>
                  <a:srgbClr val="555555"/>
                </a:solidFill>
              </a:rPr>
              <a:t>    - LoRA already shrinks the gradient AllReduce → DDP's overhead is the bottleneck.</a:t>
            </a:r>
          </a:p>
          <a:p>
            <a:pPr lvl="1">
              <a:spcAft>
                <a:spcPts val="400"/>
              </a:spcAft>
            </a:pPr>
            <a:r>
              <a:rPr sz="1400">
                <a:solidFill>
                  <a:srgbClr val="555555"/>
                </a:solidFill>
              </a:rPr>
              <a:t>    - DeepSpeed's bucketed async overlap fills the gap better than vanilla DDP.</a:t>
            </a:r>
          </a:p>
          <a:p>
            <a:pPr>
              <a:spcAft>
                <a:spcPts val="400"/>
              </a:spcAft>
            </a:pPr>
            <a:r>
              <a:rPr sz="1600">
                <a:solidFill>
                  <a:srgbClr val="101010"/>
                </a:solidFill>
              </a:rPr>
              <a:t>- 2. Pipeline parallelism (1.04×) makes the model fit but doesn't speed things up.</a:t>
            </a:r>
          </a:p>
          <a:p>
            <a:pPr lvl="1">
              <a:spcAft>
                <a:spcPts val="400"/>
              </a:spcAft>
            </a:pPr>
            <a:r>
              <a:rPr sz="1400">
                <a:solidFill>
                  <a:srgbClr val="555555"/>
                </a:solidFill>
              </a:rPr>
              <a:t>    - Cross-node Gloo activation transfers are slower than DDP's AllReduce.</a:t>
            </a:r>
          </a:p>
          <a:p>
            <a:pPr lvl="1">
              <a:spcAft>
                <a:spcPts val="400"/>
              </a:spcAft>
            </a:pPr>
            <a:r>
              <a:rPr sz="1400">
                <a:solidFill>
                  <a:srgbClr val="555555"/>
                </a:solidFill>
              </a:rPr>
              <a:t>    - Layer count is not a good proxy for memory load — split balancing is empirical.</a:t>
            </a:r>
          </a:p>
          <a:p>
            <a:pPr>
              <a:spcAft>
                <a:spcPts val="400"/>
              </a:spcAft>
            </a:pPr>
            <a:r>
              <a:rPr sz="1600">
                <a:solidFill>
                  <a:srgbClr val="101010"/>
                </a:solidFill>
              </a:rPr>
              <a:t>- 3. ZeRO-3 / FSDP collapse on Ethernet (0.04×–0.08×).</a:t>
            </a:r>
          </a:p>
          <a:p>
            <a:pPr lvl="1">
              <a:spcAft>
                <a:spcPts val="400"/>
              </a:spcAft>
            </a:pPr>
            <a:r>
              <a:rPr sz="1400">
                <a:solidFill>
                  <a:srgbClr val="555555"/>
                </a:solidFill>
              </a:rPr>
              <a:t>    - Per-layer AllGather of full weights every step is intractable over 1 Gbps.</a:t>
            </a:r>
          </a:p>
          <a:p>
            <a:pPr lvl="1">
              <a:spcAft>
                <a:spcPts val="400"/>
              </a:spcAft>
            </a:pPr>
            <a:r>
              <a:rPr sz="1400">
                <a:solidFill>
                  <a:srgbClr val="555555"/>
                </a:solidFill>
              </a:rPr>
              <a:t>    - Implementation matters: DeepSpeed ZeRO-3 is ~1.7× faster than PyTorch FSDP</a:t>
            </a:r>
          </a:p>
          <a:p>
            <a:pPr lvl="1">
              <a:spcAft>
                <a:spcPts val="400"/>
              </a:spcAft>
            </a:pPr>
            <a:r>
              <a:rPr sz="1400">
                <a:solidFill>
                  <a:srgbClr val="555555"/>
                </a:solidFill>
              </a:rPr>
              <a:t>    - because of better bucket tuning and async overlap defaults.</a:t>
            </a:r>
          </a:p>
          <a:p>
            <a:pPr>
              <a:spcAft>
                <a:spcPts val="400"/>
              </a:spcAft>
            </a:pPr>
            <a:r>
              <a:rPr sz="1600">
                <a:solidFill>
                  <a:srgbClr val="101010"/>
                </a:solidFill>
              </a:rPr>
              <a:t>- 4. ZeRO-3 / FSDP would scale on InfiniBand or NVLink — wrong tool for our hardware.</a:t>
            </a:r>
          </a:p>
          <a:p>
            <a:pPr>
              <a:spcAft>
                <a:spcPts val="400"/>
              </a:spcAft>
            </a:pPr>
            <a:r>
              <a:rPr sz="1600">
                <a:solidFill>
                  <a:srgbClr val="101010"/>
                </a:solidFill>
              </a:rPr>
              <a:t>- 5. LoRA training on a 7B model fits on a single RTX 5000 Ada — choose DP variants.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47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0">
                <a:solidFill>
                  <a:srgbClr val="101010"/>
                </a:solidFill>
              </a:rPr>
              <a:t>Lessons learned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600">
                <a:solidFill>
                  <a:srgbClr val="101010"/>
                </a:solidFill>
              </a:rPr>
              <a:t>- Match the parallelism strategy to the bottleneck</a:t>
            </a:r>
          </a:p>
          <a:p>
            <a:pPr lvl="1">
              <a:spcAft>
                <a:spcPts val="400"/>
              </a:spcAft>
            </a:pPr>
            <a:r>
              <a:rPr sz="1400">
                <a:solidFill>
                  <a:srgbClr val="555555"/>
                </a:solidFill>
              </a:rPr>
              <a:t>    - Optimizer-state-bound? → ZeRO-2</a:t>
            </a:r>
          </a:p>
          <a:p>
            <a:pPr lvl="1">
              <a:spcAft>
                <a:spcPts val="400"/>
              </a:spcAft>
            </a:pPr>
            <a:r>
              <a:rPr sz="1400">
                <a:solidFill>
                  <a:srgbClr val="555555"/>
                </a:solidFill>
              </a:rPr>
              <a:t>    - Gradient-comm-bound? → DDP with good overlap is hard to beat</a:t>
            </a:r>
          </a:p>
          <a:p>
            <a:pPr lvl="1">
              <a:spcAft>
                <a:spcPts val="400"/>
              </a:spcAft>
            </a:pPr>
            <a:r>
              <a:rPr sz="1400">
                <a:solidFill>
                  <a:srgbClr val="555555"/>
                </a:solidFill>
              </a:rPr>
              <a:t>    - Activation-memory-bound (long sequence)? → Pipeline / TP, not relevant for us</a:t>
            </a:r>
          </a:p>
          <a:p>
            <a:pPr lvl="1">
              <a:spcAft>
                <a:spcPts val="400"/>
              </a:spcAft>
            </a:pPr>
            <a:r>
              <a:rPr sz="1400">
                <a:solidFill>
                  <a:srgbClr val="555555"/>
                </a:solidFill>
              </a:rPr>
              <a:t>    - Param-memory-bound (model &gt; GPU)? → ZeRO-3 / FSDP, but only with fast interconnect</a:t>
            </a:r>
          </a:p>
          <a:p>
            <a:pPr>
              <a:spcAft>
                <a:spcPts val="400"/>
              </a:spcAft>
            </a:pPr>
            <a:r>
              <a:rPr sz="1600">
                <a:solidFill>
                  <a:srgbClr val="101010"/>
                </a:solidFill>
              </a:rPr>
              <a:t>- Implementation details actually matter when comm-bound</a:t>
            </a:r>
          </a:p>
          <a:p>
            <a:pPr lvl="1">
              <a:spcAft>
                <a:spcPts val="400"/>
              </a:spcAft>
            </a:pPr>
            <a:r>
              <a:rPr sz="1400">
                <a:solidFill>
                  <a:srgbClr val="555555"/>
                </a:solidFill>
              </a:rPr>
              <a:t>    - Bucket sizes, async overlap, prefetch policy can move 1.7× of perf</a:t>
            </a:r>
          </a:p>
          <a:p>
            <a:pPr lvl="1">
              <a:spcAft>
                <a:spcPts val="400"/>
              </a:spcAft>
            </a:pPr>
            <a:r>
              <a:rPr sz="1400">
                <a:solidFill>
                  <a:srgbClr val="555555"/>
                </a:solidFill>
              </a:rPr>
              <a:t>    - DeepSpeed &gt; FSDP defaults on slow Ethernet</a:t>
            </a:r>
          </a:p>
          <a:p>
            <a:pPr>
              <a:spcAft>
                <a:spcPts val="400"/>
              </a:spcAft>
            </a:pPr>
            <a:r>
              <a:rPr sz="1600">
                <a:solidFill>
                  <a:srgbClr val="101010"/>
                </a:solidFill>
              </a:rPr>
              <a:t>- Memory headroom is not a free win</a:t>
            </a:r>
          </a:p>
          <a:p>
            <a:pPr lvl="1">
              <a:spcAft>
                <a:spcPts val="400"/>
              </a:spcAft>
            </a:pPr>
            <a:r>
              <a:rPr sz="1400">
                <a:solidFill>
                  <a:srgbClr val="555555"/>
                </a:solidFill>
              </a:rPr>
              <a:t>    - ZeRO-3 saved 9 GiB but cost us 13× wall-clock — only useful if model doesn't fit</a:t>
            </a:r>
          </a:p>
          <a:p>
            <a:pPr>
              <a:spcAft>
                <a:spcPts val="400"/>
              </a:spcAft>
            </a:pPr>
            <a:r>
              <a:rPr sz="1600">
                <a:solidFill>
                  <a:srgbClr val="101010"/>
                </a:solidFill>
              </a:rPr>
              <a:t>- LoRA breaks naïve assumptions</a:t>
            </a:r>
          </a:p>
          <a:p>
            <a:pPr lvl="1">
              <a:spcAft>
                <a:spcPts val="400"/>
              </a:spcAft>
            </a:pPr>
            <a:r>
              <a:rPr sz="1400">
                <a:solidFill>
                  <a:srgbClr val="555555"/>
                </a:solidFill>
              </a:rPr>
              <a:t>    - Trainable params drop from 7 B to 340 M → optimizer/grad sharding is small wins</a:t>
            </a:r>
          </a:p>
          <a:p>
            <a:pPr lvl="1">
              <a:spcAft>
                <a:spcPts val="400"/>
              </a:spcAft>
            </a:pPr>
            <a:r>
              <a:rPr sz="1400">
                <a:solidFill>
                  <a:srgbClr val="555555"/>
                </a:solidFill>
              </a:rPr>
              <a:t>    - Mixed dtypes (bf16 base + fp32 LoRA) need explicit handling under FSDP</a:t>
            </a:r>
          </a:p>
          <a:p>
            <a:pPr>
              <a:spcAft>
                <a:spcPts val="400"/>
              </a:spcAft>
            </a:pPr>
            <a:r>
              <a:rPr sz="1600">
                <a:solidFill>
                  <a:srgbClr val="101010"/>
                </a:solidFill>
              </a:rPr>
              <a:t>- Cross-node infrastructure dominates</a:t>
            </a:r>
          </a:p>
          <a:p>
            <a:pPr lvl="1">
              <a:spcAft>
                <a:spcPts val="400"/>
              </a:spcAft>
            </a:pPr>
            <a:r>
              <a:rPr sz="1400">
                <a:solidFill>
                  <a:srgbClr val="555555"/>
                </a:solidFill>
              </a:rPr>
              <a:t>    - 1 Gbps Ethernet is the true bottleneck, not DeepSpeed vs FSDP vs Pipeline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12471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400" b="1">
                <a:solidFill>
                  <a:srgbClr val="101010"/>
                </a:solidFill>
              </a:rPr>
              <a:t>Thank you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124712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200">
                <a:solidFill>
                  <a:srgbClr val="555555"/>
                </a:solidFill>
              </a:rPr>
              <a:t>Questions?</a:t>
            </a:r>
          </a:p>
          <a:p>
            <a:pPr algn="ctr"/>
            <a:r>
              <a:rPr sz="1800">
                <a:solidFill>
                  <a:srgbClr val="555555"/>
                </a:solidFill>
              </a:rPr>
              <a:t>Repo: github.com/rassulmagauin/ml710
Report: ZERO2_RESULTS.md · results_explanation.md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